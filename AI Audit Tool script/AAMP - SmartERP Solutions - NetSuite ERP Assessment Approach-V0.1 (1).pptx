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1" r:id="rId1"/>
  </p:sldMasterIdLst>
  <p:notesMasterIdLst>
    <p:notesMasterId r:id="rId11"/>
  </p:notesMasterIdLst>
  <p:handoutMasterIdLst>
    <p:handoutMasterId r:id="rId12"/>
  </p:handoutMasterIdLst>
  <p:sldIdLst>
    <p:sldId id="1651" r:id="rId2"/>
    <p:sldId id="1892" r:id="rId3"/>
    <p:sldId id="1891" r:id="rId4"/>
    <p:sldId id="1899" r:id="rId5"/>
    <p:sldId id="1908" r:id="rId6"/>
    <p:sldId id="1376" r:id="rId7"/>
    <p:sldId id="1907" r:id="rId8"/>
    <p:sldId id="1909" r:id="rId9"/>
    <p:sldId id="1905" r:id="rId10"/>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8B2"/>
    <a:srgbClr val="3399FF"/>
    <a:srgbClr val="91B5FD"/>
    <a:srgbClr val="626262"/>
    <a:srgbClr val="A4C0EA"/>
    <a:srgbClr val="93B7FF"/>
    <a:srgbClr val="8BB2FF"/>
    <a:srgbClr val="81ABFF"/>
    <a:srgbClr val="6699FF"/>
    <a:srgbClr val="B0DB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0704" autoAdjust="0"/>
  </p:normalViewPr>
  <p:slideViewPr>
    <p:cSldViewPr>
      <p:cViewPr varScale="1">
        <p:scale>
          <a:sx n="69" d="100"/>
          <a:sy n="69" d="100"/>
        </p:scale>
        <p:origin x="524" y="44"/>
      </p:cViewPr>
      <p:guideLst>
        <p:guide orient="horz" pos="2160"/>
        <p:guide pos="3840"/>
      </p:guideLst>
    </p:cSldViewPr>
  </p:slideViewPr>
  <p:outlineViewPr>
    <p:cViewPr>
      <p:scale>
        <a:sx n="33" d="100"/>
        <a:sy n="33" d="100"/>
      </p:scale>
      <p:origin x="48" y="11772"/>
    </p:cViewPr>
  </p:outlineViewPr>
  <p:notesTextViewPr>
    <p:cViewPr>
      <p:scale>
        <a:sx n="3" d="2"/>
        <a:sy n="3" d="2"/>
      </p:scale>
      <p:origin x="0" y="0"/>
    </p:cViewPr>
  </p:notesTextViewPr>
  <p:sorterViewPr>
    <p:cViewPr>
      <p:scale>
        <a:sx n="50" d="100"/>
        <a:sy n="5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8145" cy="464205"/>
          </a:xfrm>
          <a:prstGeom prst="rect">
            <a:avLst/>
          </a:prstGeom>
        </p:spPr>
        <p:txBody>
          <a:bodyPr vert="horz" lIns="93172" tIns="46586" rIns="93172" bIns="46586" rtlCol="0"/>
          <a:lstStyle>
            <a:lvl1pPr algn="l" eaLnBrk="1" hangingPunct="1">
              <a:defRPr sz="1300">
                <a:latin typeface="Arial" charset="0"/>
                <a:cs typeface="+mn-cs"/>
              </a:defRPr>
            </a:lvl1pPr>
          </a:lstStyle>
          <a:p>
            <a:pPr>
              <a:defRPr/>
            </a:pPr>
            <a:endParaRPr lang="en-US" dirty="0"/>
          </a:p>
        </p:txBody>
      </p:sp>
      <p:sp>
        <p:nvSpPr>
          <p:cNvPr id="3" name="Date Placeholder 2"/>
          <p:cNvSpPr>
            <a:spLocks noGrp="1"/>
          </p:cNvSpPr>
          <p:nvPr>
            <p:ph type="dt" sz="quarter" idx="1"/>
          </p:nvPr>
        </p:nvSpPr>
        <p:spPr>
          <a:xfrm>
            <a:off x="3970734" y="1"/>
            <a:ext cx="3038145" cy="464205"/>
          </a:xfrm>
          <a:prstGeom prst="rect">
            <a:avLst/>
          </a:prstGeom>
        </p:spPr>
        <p:txBody>
          <a:bodyPr vert="horz" lIns="93172" tIns="46586" rIns="93172" bIns="46586" rtlCol="0"/>
          <a:lstStyle>
            <a:lvl1pPr algn="r" eaLnBrk="1" hangingPunct="1">
              <a:defRPr sz="1300">
                <a:latin typeface="Arial" charset="0"/>
                <a:cs typeface="+mn-cs"/>
              </a:defRPr>
            </a:lvl1pPr>
          </a:lstStyle>
          <a:p>
            <a:pPr>
              <a:defRPr/>
            </a:pPr>
            <a:fld id="{81BE29EA-0C0C-437D-8E2E-79C0520AB07A}" type="datetimeFigureOut">
              <a:rPr lang="en-US"/>
              <a:pPr>
                <a:defRPr/>
              </a:pPr>
              <a:t>12/16/2021</a:t>
            </a:fld>
            <a:endParaRPr lang="en-US" dirty="0"/>
          </a:p>
        </p:txBody>
      </p:sp>
      <p:sp>
        <p:nvSpPr>
          <p:cNvPr id="4" name="Footer Placeholder 3"/>
          <p:cNvSpPr>
            <a:spLocks noGrp="1"/>
          </p:cNvSpPr>
          <p:nvPr>
            <p:ph type="ftr" sz="quarter" idx="2"/>
          </p:nvPr>
        </p:nvSpPr>
        <p:spPr>
          <a:xfrm>
            <a:off x="0" y="8830659"/>
            <a:ext cx="3038145" cy="464205"/>
          </a:xfrm>
          <a:prstGeom prst="rect">
            <a:avLst/>
          </a:prstGeom>
        </p:spPr>
        <p:txBody>
          <a:bodyPr vert="horz" lIns="93172" tIns="46586" rIns="93172" bIns="46586" rtlCol="0" anchor="b"/>
          <a:lstStyle>
            <a:lvl1pPr algn="l" eaLnBrk="1" hangingPunct="1">
              <a:defRPr sz="1300">
                <a:latin typeface="Arial" charset="0"/>
                <a:cs typeface="+mn-cs"/>
              </a:defRPr>
            </a:lvl1pPr>
          </a:lstStyle>
          <a:p>
            <a:pPr>
              <a:defRPr/>
            </a:pPr>
            <a:endParaRPr lang="en-US" dirty="0"/>
          </a:p>
        </p:txBody>
      </p:sp>
      <p:sp>
        <p:nvSpPr>
          <p:cNvPr id="5" name="Slide Number Placeholder 4"/>
          <p:cNvSpPr>
            <a:spLocks noGrp="1"/>
          </p:cNvSpPr>
          <p:nvPr>
            <p:ph type="sldNum" sz="quarter" idx="3"/>
          </p:nvPr>
        </p:nvSpPr>
        <p:spPr>
          <a:xfrm>
            <a:off x="3970734" y="8830659"/>
            <a:ext cx="3038145" cy="464205"/>
          </a:xfrm>
          <a:prstGeom prst="rect">
            <a:avLst/>
          </a:prstGeom>
        </p:spPr>
        <p:txBody>
          <a:bodyPr vert="horz" wrap="square" lIns="93172" tIns="46586" rIns="93172" bIns="46586" numCol="1" anchor="b" anchorCtr="0" compatLnSpc="1">
            <a:prstTxWarp prst="textNoShape">
              <a:avLst/>
            </a:prstTxWarp>
          </a:bodyPr>
          <a:lstStyle>
            <a:lvl1pPr algn="r" eaLnBrk="1" hangingPunct="1">
              <a:defRPr sz="1300"/>
            </a:lvl1pPr>
          </a:lstStyle>
          <a:p>
            <a:pPr>
              <a:defRPr/>
            </a:pPr>
            <a:fld id="{F4439F86-C7D6-45A9-9E98-97684E550F25}" type="slidenum">
              <a:rPr lang="en-US" altLang="en-US"/>
              <a:pPr>
                <a:defRPr/>
              </a:pPr>
              <a:t>‹#›</a:t>
            </a:fld>
            <a:endParaRPr lang="en-US" altLang="en-US" dirty="0"/>
          </a:p>
        </p:txBody>
      </p:sp>
    </p:spTree>
    <p:extLst>
      <p:ext uri="{BB962C8B-B14F-4D97-AF65-F5344CB8AC3E}">
        <p14:creationId xmlns:p14="http://schemas.microsoft.com/office/powerpoint/2010/main" val="408165887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8145" cy="464205"/>
          </a:xfrm>
          <a:prstGeom prst="rect">
            <a:avLst/>
          </a:prstGeom>
        </p:spPr>
        <p:txBody>
          <a:bodyPr vert="horz" lIns="93172" tIns="46586" rIns="93172" bIns="46586" rtlCol="0"/>
          <a:lstStyle>
            <a:lvl1pPr algn="l" eaLnBrk="1" hangingPunct="1">
              <a:defRPr sz="1300">
                <a:latin typeface="Arial" charset="0"/>
                <a:cs typeface="+mn-cs"/>
              </a:defRPr>
            </a:lvl1pPr>
          </a:lstStyle>
          <a:p>
            <a:pPr>
              <a:defRPr/>
            </a:pPr>
            <a:endParaRPr lang="en-US" dirty="0"/>
          </a:p>
        </p:txBody>
      </p:sp>
      <p:sp>
        <p:nvSpPr>
          <p:cNvPr id="3" name="Date Placeholder 2"/>
          <p:cNvSpPr>
            <a:spLocks noGrp="1"/>
          </p:cNvSpPr>
          <p:nvPr>
            <p:ph type="dt" idx="1"/>
          </p:nvPr>
        </p:nvSpPr>
        <p:spPr>
          <a:xfrm>
            <a:off x="3970734" y="1"/>
            <a:ext cx="3038145" cy="464205"/>
          </a:xfrm>
          <a:prstGeom prst="rect">
            <a:avLst/>
          </a:prstGeom>
        </p:spPr>
        <p:txBody>
          <a:bodyPr vert="horz" lIns="93172" tIns="46586" rIns="93172" bIns="46586" rtlCol="0"/>
          <a:lstStyle>
            <a:lvl1pPr algn="r" eaLnBrk="1" hangingPunct="1">
              <a:defRPr sz="1300">
                <a:latin typeface="Arial" charset="0"/>
                <a:cs typeface="+mn-cs"/>
              </a:defRPr>
            </a:lvl1pPr>
          </a:lstStyle>
          <a:p>
            <a:pPr>
              <a:defRPr/>
            </a:pPr>
            <a:fld id="{98690328-8484-40AA-B06F-ABB427C97634}" type="datetimeFigureOut">
              <a:rPr lang="en-US"/>
              <a:pPr>
                <a:defRPr/>
              </a:pPr>
              <a:t>12/16/2021</a:t>
            </a:fld>
            <a:endParaRPr lang="en-US" dirty="0"/>
          </a:p>
        </p:txBody>
      </p:sp>
      <p:sp>
        <p:nvSpPr>
          <p:cNvPr id="4" name="Slide Image Placeholder 3"/>
          <p:cNvSpPr>
            <a:spLocks noGrp="1" noRot="1" noChangeAspect="1"/>
          </p:cNvSpPr>
          <p:nvPr>
            <p:ph type="sldImg" idx="2"/>
          </p:nvPr>
        </p:nvSpPr>
        <p:spPr>
          <a:xfrm>
            <a:off x="406400" y="698500"/>
            <a:ext cx="6197600" cy="3486150"/>
          </a:xfrm>
          <a:prstGeom prst="rect">
            <a:avLst/>
          </a:prstGeom>
          <a:noFill/>
          <a:ln w="12700">
            <a:solidFill>
              <a:prstClr val="black"/>
            </a:solidFill>
          </a:ln>
        </p:spPr>
        <p:txBody>
          <a:bodyPr vert="horz" lIns="93172" tIns="46586" rIns="93172" bIns="46586" rtlCol="0" anchor="ctr"/>
          <a:lstStyle/>
          <a:p>
            <a:pPr lvl="0"/>
            <a:endParaRPr lang="en-US" noProof="0" dirty="0"/>
          </a:p>
        </p:txBody>
      </p:sp>
      <p:sp>
        <p:nvSpPr>
          <p:cNvPr id="5" name="Notes Placeholder 4"/>
          <p:cNvSpPr>
            <a:spLocks noGrp="1"/>
          </p:cNvSpPr>
          <p:nvPr>
            <p:ph type="body" sz="quarter" idx="3"/>
          </p:nvPr>
        </p:nvSpPr>
        <p:spPr>
          <a:xfrm>
            <a:off x="701345" y="4416099"/>
            <a:ext cx="5607711" cy="4182457"/>
          </a:xfrm>
          <a:prstGeom prst="rect">
            <a:avLst/>
          </a:prstGeom>
        </p:spPr>
        <p:txBody>
          <a:bodyPr vert="horz" lIns="93172" tIns="46586" rIns="93172" bIns="465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30659"/>
            <a:ext cx="3038145" cy="464205"/>
          </a:xfrm>
          <a:prstGeom prst="rect">
            <a:avLst/>
          </a:prstGeom>
        </p:spPr>
        <p:txBody>
          <a:bodyPr vert="horz" lIns="93172" tIns="46586" rIns="93172" bIns="46586" rtlCol="0" anchor="b"/>
          <a:lstStyle>
            <a:lvl1pPr algn="l" eaLnBrk="1" hangingPunct="1">
              <a:defRPr sz="1300">
                <a:latin typeface="Arial" charset="0"/>
                <a:cs typeface="+mn-cs"/>
              </a:defRPr>
            </a:lvl1pPr>
          </a:lstStyle>
          <a:p>
            <a:pPr>
              <a:defRPr/>
            </a:pPr>
            <a:endParaRPr lang="en-US" dirty="0"/>
          </a:p>
        </p:txBody>
      </p:sp>
      <p:sp>
        <p:nvSpPr>
          <p:cNvPr id="7" name="Slide Number Placeholder 6"/>
          <p:cNvSpPr>
            <a:spLocks noGrp="1"/>
          </p:cNvSpPr>
          <p:nvPr>
            <p:ph type="sldNum" sz="quarter" idx="5"/>
          </p:nvPr>
        </p:nvSpPr>
        <p:spPr>
          <a:xfrm>
            <a:off x="3970734" y="8830659"/>
            <a:ext cx="3038145" cy="464205"/>
          </a:xfrm>
          <a:prstGeom prst="rect">
            <a:avLst/>
          </a:prstGeom>
        </p:spPr>
        <p:txBody>
          <a:bodyPr vert="horz" wrap="square" lIns="93172" tIns="46586" rIns="93172" bIns="46586" numCol="1" anchor="b" anchorCtr="0" compatLnSpc="1">
            <a:prstTxWarp prst="textNoShape">
              <a:avLst/>
            </a:prstTxWarp>
          </a:bodyPr>
          <a:lstStyle>
            <a:lvl1pPr algn="r" eaLnBrk="1" hangingPunct="1">
              <a:defRPr sz="1300"/>
            </a:lvl1pPr>
          </a:lstStyle>
          <a:p>
            <a:pPr>
              <a:defRPr/>
            </a:pPr>
            <a:fld id="{A99E3040-BFD5-4968-AD8D-EEFF102AE687}" type="slidenum">
              <a:rPr lang="en-US" altLang="en-US"/>
              <a:pPr>
                <a:defRPr/>
              </a:pPr>
              <a:t>‹#›</a:t>
            </a:fld>
            <a:endParaRPr lang="en-US" altLang="en-US" dirty="0"/>
          </a:p>
        </p:txBody>
      </p:sp>
    </p:spTree>
    <p:extLst>
      <p:ext uri="{BB962C8B-B14F-4D97-AF65-F5344CB8AC3E}">
        <p14:creationId xmlns:p14="http://schemas.microsoft.com/office/powerpoint/2010/main" val="281170228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68167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8C8BE72B-03DA-4115-9F65-024AA412B220}" type="datetime1">
              <a:rPr lang="en-US" smtClean="0"/>
              <a:t>12/16/2021</a:t>
            </a:fld>
            <a:endParaRPr lang="en-US" dirty="0"/>
          </a:p>
        </p:txBody>
      </p:sp>
      <p:sp>
        <p:nvSpPr>
          <p:cNvPr id="5" name="Footer Placeholder 4"/>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dirty="0"/>
          </a:p>
        </p:txBody>
      </p:sp>
    </p:spTree>
    <p:extLst>
      <p:ext uri="{BB962C8B-B14F-4D97-AF65-F5344CB8AC3E}">
        <p14:creationId xmlns:p14="http://schemas.microsoft.com/office/powerpoint/2010/main" val="306654558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14400"/>
          </a:xfrm>
          <a:prstGeom prst="rect">
            <a:avLst/>
          </a:prstGeom>
          <a:solidFill>
            <a:schemeClr val="accent1">
              <a:lumMod val="20000"/>
              <a:lumOff val="80000"/>
            </a:schemeClr>
          </a:solidFill>
        </p:spPr>
        <p:txBody>
          <a:bodyPr/>
          <a:lstStyle>
            <a:lvl1pPr algn="l">
              <a:defRPr sz="4000">
                <a:solidFill>
                  <a:srgbClr val="2E68B2"/>
                </a:solidFill>
              </a:defRPr>
            </a:lvl1pPr>
          </a:lstStyle>
          <a:p>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5148F157-E314-4E38-84B1-D54D03591641}" type="datetime1">
              <a:rPr lang="en-US" smtClean="0"/>
              <a:t>12/16/2021</a:t>
            </a:fld>
            <a:endParaRPr lang="en-US" dirty="0"/>
          </a:p>
        </p:txBody>
      </p:sp>
      <p:sp>
        <p:nvSpPr>
          <p:cNvPr id="5" name="Footer Placeholder 4"/>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dirty="0"/>
          </a:p>
        </p:txBody>
      </p:sp>
    </p:spTree>
    <p:extLst>
      <p:ext uri="{BB962C8B-B14F-4D97-AF65-F5344CB8AC3E}">
        <p14:creationId xmlns:p14="http://schemas.microsoft.com/office/powerpoint/2010/main" val="160935553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D536F090-9C58-4D22-8CEA-A67EC49BDD80}" type="datetime1">
              <a:rPr lang="en-US" smtClean="0"/>
              <a:t>12/16/2021</a:t>
            </a:fld>
            <a:endParaRPr lang="en-US" dirty="0"/>
          </a:p>
        </p:txBody>
      </p:sp>
      <p:sp>
        <p:nvSpPr>
          <p:cNvPr id="6" name="Footer Placeholder 5"/>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dirty="0"/>
          </a:p>
        </p:txBody>
      </p:sp>
    </p:spTree>
    <p:extLst>
      <p:ext uri="{BB962C8B-B14F-4D97-AF65-F5344CB8AC3E}">
        <p14:creationId xmlns:p14="http://schemas.microsoft.com/office/powerpoint/2010/main" val="76477591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9F54E32A-9FE1-4A1D-AB40-F84E88B378EA}" type="datetime1">
              <a:rPr lang="en-US" smtClean="0"/>
              <a:t>12/16/2021</a:t>
            </a:fld>
            <a:endParaRPr lang="en-US" dirty="0"/>
          </a:p>
        </p:txBody>
      </p:sp>
      <p:sp>
        <p:nvSpPr>
          <p:cNvPr id="8" name="Footer Placeholder 7"/>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dirty="0"/>
          </a:p>
        </p:txBody>
      </p:sp>
    </p:spTree>
    <p:extLst>
      <p:ext uri="{BB962C8B-B14F-4D97-AF65-F5344CB8AC3E}">
        <p14:creationId xmlns:p14="http://schemas.microsoft.com/office/powerpoint/2010/main" val="172754909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376859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900A94E3-B9D2-4582-BE67-4826577D378B}" type="datetime1">
              <a:rPr lang="en-US" smtClean="0"/>
              <a:t>12/16/2021</a:t>
            </a:fld>
            <a:endParaRPr lang="en-US" dirty="0"/>
          </a:p>
        </p:txBody>
      </p:sp>
      <p:sp>
        <p:nvSpPr>
          <p:cNvPr id="3" name="Footer Placeholder 2"/>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dirty="0"/>
          </a:p>
        </p:txBody>
      </p:sp>
      <p:sp>
        <p:nvSpPr>
          <p:cNvPr id="4" name="Slide Number Placeholder 3"/>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6A912A35-B14C-4930-8645-A793753EC886}" type="slidenum">
              <a:rPr lang="en-US"/>
              <a:pPr>
                <a:defRPr/>
              </a:pPr>
              <a:t>‹#›</a:t>
            </a:fld>
            <a:endParaRPr lang="en-US" dirty="0"/>
          </a:p>
        </p:txBody>
      </p:sp>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b="20670"/>
          <a:stretch/>
        </p:blipFill>
        <p:spPr>
          <a:xfrm>
            <a:off x="0" y="6269702"/>
            <a:ext cx="12192000" cy="588298"/>
          </a:xfrm>
          <a:prstGeom prst="rect">
            <a:avLst/>
          </a:prstGeom>
        </p:spPr>
      </p:pic>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24654" y="6380760"/>
            <a:ext cx="1657000" cy="401050"/>
          </a:xfrm>
          <a:prstGeom prst="rect">
            <a:avLst/>
          </a:prstGeom>
        </p:spPr>
      </p:pic>
      <p:sp>
        <p:nvSpPr>
          <p:cNvPr id="7" name="TextBox 6"/>
          <p:cNvSpPr txBox="1"/>
          <p:nvPr userDrawn="1"/>
        </p:nvSpPr>
        <p:spPr>
          <a:xfrm>
            <a:off x="2148" y="6553933"/>
            <a:ext cx="412927" cy="292384"/>
          </a:xfrm>
          <a:prstGeom prst="rect">
            <a:avLst/>
          </a:prstGeom>
          <a:noFill/>
        </p:spPr>
        <p:txBody>
          <a:bodyPr wrap="none" lIns="121917" tIns="60958" rIns="121917" bIns="60958" rtlCol="0">
            <a:spAutoFit/>
          </a:bodyPr>
          <a:lstStyle/>
          <a:p>
            <a:pPr algn="l"/>
            <a:fld id="{111F478C-84AE-4601-9BE4-60468A3A6C06}" type="slidenum">
              <a:rPr lang="en-US" sz="1100" smtClean="0">
                <a:solidFill>
                  <a:schemeClr val="tx1">
                    <a:alpha val="50000"/>
                  </a:schemeClr>
                </a:solidFill>
                <a:latin typeface="+mj-lt"/>
              </a:rPr>
              <a:pPr algn="l"/>
              <a:t>‹#›</a:t>
            </a:fld>
            <a:endParaRPr lang="en-US" sz="1100" dirty="0">
              <a:solidFill>
                <a:schemeClr val="tx1">
                  <a:alpha val="50000"/>
                </a:schemeClr>
              </a:solidFill>
              <a:latin typeface="+mj-lt"/>
            </a:endParaRPr>
          </a:p>
        </p:txBody>
      </p:sp>
    </p:spTree>
    <p:extLst>
      <p:ext uri="{BB962C8B-B14F-4D97-AF65-F5344CB8AC3E}">
        <p14:creationId xmlns:p14="http://schemas.microsoft.com/office/powerpoint/2010/main" val="41204847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8B0D51D8-E2C7-4F59-B767-E2B2398F0A47}" type="datetime1">
              <a:rPr lang="en-US" smtClean="0"/>
              <a:t>12/16/2021</a:t>
            </a:fld>
            <a:endParaRPr lang="en-US" dirty="0"/>
          </a:p>
        </p:txBody>
      </p:sp>
      <p:sp>
        <p:nvSpPr>
          <p:cNvPr id="6" name="Footer Placeholder 5"/>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dirty="0"/>
          </a:p>
        </p:txBody>
      </p:sp>
      <p:sp>
        <p:nvSpPr>
          <p:cNvPr id="7" name="Slide Number Placeholder 6"/>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0AD4462C-7EF5-4346-9E78-A450C476B3C3}" type="slidenum">
              <a:rPr lang="en-US"/>
              <a:pPr>
                <a:defRPr/>
              </a:pPr>
              <a:t>‹#›</a:t>
            </a:fld>
            <a:endParaRPr lang="en-US" dirty="0"/>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b="20670"/>
          <a:stretch/>
        </p:blipFill>
        <p:spPr>
          <a:xfrm>
            <a:off x="0" y="6269702"/>
            <a:ext cx="12192000" cy="588298"/>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24654" y="6380760"/>
            <a:ext cx="1657000" cy="401050"/>
          </a:xfrm>
          <a:prstGeom prst="rect">
            <a:avLst/>
          </a:prstGeom>
        </p:spPr>
      </p:pic>
      <p:sp>
        <p:nvSpPr>
          <p:cNvPr id="10" name="TextBox 9"/>
          <p:cNvSpPr txBox="1"/>
          <p:nvPr userDrawn="1"/>
        </p:nvSpPr>
        <p:spPr>
          <a:xfrm>
            <a:off x="2148" y="6553933"/>
            <a:ext cx="412927" cy="292384"/>
          </a:xfrm>
          <a:prstGeom prst="rect">
            <a:avLst/>
          </a:prstGeom>
          <a:noFill/>
        </p:spPr>
        <p:txBody>
          <a:bodyPr wrap="none" lIns="121917" tIns="60958" rIns="121917" bIns="60958" rtlCol="0">
            <a:spAutoFit/>
          </a:bodyPr>
          <a:lstStyle/>
          <a:p>
            <a:pPr algn="l"/>
            <a:fld id="{111F478C-84AE-4601-9BE4-60468A3A6C06}" type="slidenum">
              <a:rPr lang="en-US" sz="1100" smtClean="0">
                <a:solidFill>
                  <a:schemeClr val="tx1">
                    <a:alpha val="50000"/>
                  </a:schemeClr>
                </a:solidFill>
                <a:latin typeface="+mj-lt"/>
              </a:rPr>
              <a:pPr algn="l"/>
              <a:t>‹#›</a:t>
            </a:fld>
            <a:endParaRPr lang="en-US" sz="1100" dirty="0">
              <a:solidFill>
                <a:schemeClr val="tx1">
                  <a:alpha val="50000"/>
                </a:schemeClr>
              </a:solidFill>
              <a:latin typeface="+mj-lt"/>
            </a:endParaRPr>
          </a:p>
        </p:txBody>
      </p:sp>
    </p:spTree>
    <p:extLst>
      <p:ext uri="{BB962C8B-B14F-4D97-AF65-F5344CB8AC3E}">
        <p14:creationId xmlns:p14="http://schemas.microsoft.com/office/powerpoint/2010/main" val="116125867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8F109879-BEAF-4C73-B452-DDABFAF2E36D}" type="datetime1">
              <a:rPr lang="en-US" smtClean="0"/>
              <a:t>12/16/2021</a:t>
            </a:fld>
            <a:endParaRPr lang="en-US" dirty="0"/>
          </a:p>
        </p:txBody>
      </p:sp>
      <p:sp>
        <p:nvSpPr>
          <p:cNvPr id="6" name="Footer Placeholder 5"/>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dirty="0"/>
          </a:p>
        </p:txBody>
      </p:sp>
      <p:sp>
        <p:nvSpPr>
          <p:cNvPr id="7" name="Slide Number Placeholder 6"/>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0BBCE876-456E-415E-A6D6-60D792AED0FF}" type="slidenum">
              <a:rPr lang="en-US"/>
              <a:pPr>
                <a:defRPr/>
              </a:pPr>
              <a:t>‹#›</a:t>
            </a:fld>
            <a:endParaRPr lang="en-US" dirty="0"/>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b="20670"/>
          <a:stretch/>
        </p:blipFill>
        <p:spPr>
          <a:xfrm>
            <a:off x="0" y="6269702"/>
            <a:ext cx="12192000" cy="588298"/>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24654" y="6380760"/>
            <a:ext cx="1657000" cy="401050"/>
          </a:xfrm>
          <a:prstGeom prst="rect">
            <a:avLst/>
          </a:prstGeom>
        </p:spPr>
      </p:pic>
      <p:sp>
        <p:nvSpPr>
          <p:cNvPr id="10" name="TextBox 9"/>
          <p:cNvSpPr txBox="1"/>
          <p:nvPr userDrawn="1"/>
        </p:nvSpPr>
        <p:spPr>
          <a:xfrm>
            <a:off x="2148" y="6553933"/>
            <a:ext cx="412927" cy="292384"/>
          </a:xfrm>
          <a:prstGeom prst="rect">
            <a:avLst/>
          </a:prstGeom>
          <a:noFill/>
        </p:spPr>
        <p:txBody>
          <a:bodyPr wrap="none" lIns="121917" tIns="60958" rIns="121917" bIns="60958" rtlCol="0">
            <a:spAutoFit/>
          </a:bodyPr>
          <a:lstStyle/>
          <a:p>
            <a:pPr algn="l"/>
            <a:fld id="{111F478C-84AE-4601-9BE4-60468A3A6C06}" type="slidenum">
              <a:rPr lang="en-US" sz="1100" smtClean="0">
                <a:solidFill>
                  <a:schemeClr val="tx1">
                    <a:alpha val="50000"/>
                  </a:schemeClr>
                </a:solidFill>
                <a:latin typeface="+mj-lt"/>
              </a:rPr>
              <a:pPr algn="l"/>
              <a:t>‹#›</a:t>
            </a:fld>
            <a:endParaRPr lang="en-US" sz="1100" dirty="0">
              <a:solidFill>
                <a:schemeClr val="tx1">
                  <a:alpha val="50000"/>
                </a:schemeClr>
              </a:solidFill>
              <a:latin typeface="+mj-lt"/>
            </a:endParaRPr>
          </a:p>
        </p:txBody>
      </p:sp>
    </p:spTree>
    <p:extLst>
      <p:ext uri="{BB962C8B-B14F-4D97-AF65-F5344CB8AC3E}">
        <p14:creationId xmlns:p14="http://schemas.microsoft.com/office/powerpoint/2010/main" val="253469374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9BFD5FDA-300C-4B2E-97B3-A1541A35F6D4}" type="datetime1">
              <a:rPr lang="en-US" smtClean="0"/>
              <a:t>12/16/2021</a:t>
            </a:fld>
            <a:endParaRPr lang="en-US" dirty="0"/>
          </a:p>
        </p:txBody>
      </p:sp>
      <p:sp>
        <p:nvSpPr>
          <p:cNvPr id="5" name="Footer Placeholder 4"/>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B584D50D-CBE9-4818-B543-252AF8266B22}" type="slidenum">
              <a:rPr lang="en-US"/>
              <a:pPr>
                <a:defRPr/>
              </a:pPr>
              <a:t>‹#›</a:t>
            </a:fld>
            <a:endParaRPr lang="en-US" dirty="0"/>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b="20670"/>
          <a:stretch/>
        </p:blipFill>
        <p:spPr>
          <a:xfrm>
            <a:off x="0" y="6269702"/>
            <a:ext cx="12192000" cy="588298"/>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24654" y="6380760"/>
            <a:ext cx="1657000" cy="401050"/>
          </a:xfrm>
          <a:prstGeom prst="rect">
            <a:avLst/>
          </a:prstGeom>
        </p:spPr>
      </p:pic>
      <p:sp>
        <p:nvSpPr>
          <p:cNvPr id="9" name="TextBox 8"/>
          <p:cNvSpPr txBox="1"/>
          <p:nvPr userDrawn="1"/>
        </p:nvSpPr>
        <p:spPr>
          <a:xfrm>
            <a:off x="2148" y="6553933"/>
            <a:ext cx="412927" cy="292384"/>
          </a:xfrm>
          <a:prstGeom prst="rect">
            <a:avLst/>
          </a:prstGeom>
          <a:noFill/>
        </p:spPr>
        <p:txBody>
          <a:bodyPr wrap="none" lIns="121917" tIns="60958" rIns="121917" bIns="60958" rtlCol="0">
            <a:spAutoFit/>
          </a:bodyPr>
          <a:lstStyle/>
          <a:p>
            <a:pPr algn="l"/>
            <a:fld id="{111F478C-84AE-4601-9BE4-60468A3A6C06}" type="slidenum">
              <a:rPr lang="en-US" sz="1100" smtClean="0">
                <a:solidFill>
                  <a:schemeClr val="tx1">
                    <a:alpha val="50000"/>
                  </a:schemeClr>
                </a:solidFill>
                <a:latin typeface="+mj-lt"/>
              </a:rPr>
              <a:pPr algn="l"/>
              <a:t>‹#›</a:t>
            </a:fld>
            <a:endParaRPr lang="en-US" sz="1100" dirty="0">
              <a:solidFill>
                <a:schemeClr val="tx1">
                  <a:alpha val="50000"/>
                </a:schemeClr>
              </a:solidFill>
              <a:latin typeface="+mj-lt"/>
            </a:endParaRPr>
          </a:p>
        </p:txBody>
      </p:sp>
    </p:spTree>
    <p:extLst>
      <p:ext uri="{BB962C8B-B14F-4D97-AF65-F5344CB8AC3E}">
        <p14:creationId xmlns:p14="http://schemas.microsoft.com/office/powerpoint/2010/main" val="319374069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D86055A9-303A-4DAE-9A57-C4A796621647}" type="datetime1">
              <a:rPr lang="en-US" smtClean="0"/>
              <a:t>12/16/2021</a:t>
            </a:fld>
            <a:endParaRPr lang="en-US" dirty="0"/>
          </a:p>
        </p:txBody>
      </p:sp>
      <p:sp>
        <p:nvSpPr>
          <p:cNvPr id="5" name="Footer Placeholder 4"/>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cs typeface="Arial" panose="020B0604020202020204" pitchFamily="34" charset="0"/>
              </a:defRPr>
            </a:lvl1pPr>
          </a:lstStyle>
          <a:p>
            <a:pPr>
              <a:defRPr/>
            </a:pPr>
            <a:fld id="{5C2833AE-561E-4F74-9A25-45C0838EB8D3}" type="slidenum">
              <a:rPr lang="en-US"/>
              <a:pPr>
                <a:defRPr/>
              </a:pPr>
              <a:t>‹#›</a:t>
            </a:fld>
            <a:endParaRPr lang="en-US" dirty="0"/>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b="20670"/>
          <a:stretch/>
        </p:blipFill>
        <p:spPr>
          <a:xfrm>
            <a:off x="0" y="6269702"/>
            <a:ext cx="12192000" cy="588298"/>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24654" y="6380760"/>
            <a:ext cx="1657000" cy="401050"/>
          </a:xfrm>
          <a:prstGeom prst="rect">
            <a:avLst/>
          </a:prstGeom>
        </p:spPr>
      </p:pic>
      <p:sp>
        <p:nvSpPr>
          <p:cNvPr id="9" name="TextBox 8"/>
          <p:cNvSpPr txBox="1"/>
          <p:nvPr userDrawn="1"/>
        </p:nvSpPr>
        <p:spPr>
          <a:xfrm>
            <a:off x="2148" y="6553933"/>
            <a:ext cx="412927" cy="292384"/>
          </a:xfrm>
          <a:prstGeom prst="rect">
            <a:avLst/>
          </a:prstGeom>
          <a:noFill/>
        </p:spPr>
        <p:txBody>
          <a:bodyPr wrap="none" lIns="121917" tIns="60958" rIns="121917" bIns="60958" rtlCol="0">
            <a:spAutoFit/>
          </a:bodyPr>
          <a:lstStyle/>
          <a:p>
            <a:pPr algn="l"/>
            <a:fld id="{111F478C-84AE-4601-9BE4-60468A3A6C06}" type="slidenum">
              <a:rPr lang="en-US" sz="1100" smtClean="0">
                <a:solidFill>
                  <a:schemeClr val="tx1">
                    <a:alpha val="50000"/>
                  </a:schemeClr>
                </a:solidFill>
                <a:latin typeface="+mj-lt"/>
              </a:rPr>
              <a:pPr algn="l"/>
              <a:t>‹#›</a:t>
            </a:fld>
            <a:endParaRPr lang="en-US" sz="1100" dirty="0">
              <a:solidFill>
                <a:schemeClr val="tx1">
                  <a:alpha val="50000"/>
                </a:schemeClr>
              </a:solidFill>
              <a:latin typeface="+mj-lt"/>
            </a:endParaRPr>
          </a:p>
        </p:txBody>
      </p:sp>
    </p:spTree>
    <p:extLst>
      <p:ext uri="{BB962C8B-B14F-4D97-AF65-F5344CB8AC3E}">
        <p14:creationId xmlns:p14="http://schemas.microsoft.com/office/powerpoint/2010/main" val="369780574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9"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Calibri"/>
                <a:cs typeface="+mn-cs"/>
              </a:defRPr>
            </a:lvl1pPr>
          </a:lstStyle>
          <a:p>
            <a:pPr>
              <a:defRPr/>
            </a:pPr>
            <a:fld id="{F3A4F403-3C4B-474E-8296-84F95BC38708}" type="datetime1">
              <a:rPr lang="en-US" smtClean="0"/>
              <a:t>12/16/2021</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Calibri"/>
                <a:cs typeface="+mn-cs"/>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prstClr val="black">
                    <a:tint val="75000"/>
                  </a:prstClr>
                </a:solidFill>
                <a:latin typeface="Calibri"/>
                <a:cs typeface="+mn-cs"/>
              </a:defRPr>
            </a:lvl1pPr>
          </a:lstStyle>
          <a:p>
            <a:pPr>
              <a:defRPr/>
            </a:pPr>
            <a:fld id="{80FEFD83-F570-4FFB-9B14-F62C531212C2}" type="slidenum">
              <a:rPr lang="en-US"/>
              <a:pPr>
                <a:defRPr/>
              </a:pPr>
              <a:t>‹#›</a:t>
            </a:fld>
            <a:endParaRPr lang="en-US" dirty="0"/>
          </a:p>
        </p:txBody>
      </p:sp>
      <p:pic>
        <p:nvPicPr>
          <p:cNvPr id="7" name="Picture 6"/>
          <p:cNvPicPr>
            <a:picLocks noChangeAspect="1"/>
          </p:cNvPicPr>
          <p:nvPr userDrawn="1"/>
        </p:nvPicPr>
        <p:blipFill rotWithShape="1">
          <a:blip r:embed="rId12">
            <a:extLst>
              <a:ext uri="{28A0092B-C50C-407E-A947-70E740481C1C}">
                <a14:useLocalDpi xmlns:a14="http://schemas.microsoft.com/office/drawing/2010/main" val="0"/>
              </a:ext>
            </a:extLst>
          </a:blip>
          <a:srcRect b="20670"/>
          <a:stretch/>
        </p:blipFill>
        <p:spPr>
          <a:xfrm>
            <a:off x="0" y="6269702"/>
            <a:ext cx="12192000" cy="588298"/>
          </a:xfrm>
          <a:prstGeom prst="rect">
            <a:avLst/>
          </a:prstGeom>
        </p:spPr>
      </p:pic>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224654" y="6380760"/>
            <a:ext cx="1657000" cy="401050"/>
          </a:xfrm>
          <a:prstGeom prst="rect">
            <a:avLst/>
          </a:prstGeom>
        </p:spPr>
      </p:pic>
      <p:sp>
        <p:nvSpPr>
          <p:cNvPr id="9" name="Title 1"/>
          <p:cNvSpPr txBox="1">
            <a:spLocks/>
          </p:cNvSpPr>
          <p:nvPr userDrawn="1"/>
        </p:nvSpPr>
        <p:spPr>
          <a:xfrm>
            <a:off x="0" y="0"/>
            <a:ext cx="12192000" cy="914400"/>
          </a:xfrm>
          <a:prstGeom prst="rect">
            <a:avLst/>
          </a:prstGeom>
          <a:solidFill>
            <a:schemeClr val="accent1">
              <a:lumMod val="20000"/>
              <a:lumOff val="80000"/>
            </a:schemeClr>
          </a:solidFill>
        </p:spPr>
        <p:txBody>
          <a:bodyPr/>
          <a:lstStyle>
            <a:lvl1pPr algn="l" rtl="0" eaLnBrk="0" fontAlgn="base" hangingPunct="0">
              <a:spcBef>
                <a:spcPct val="0"/>
              </a:spcBef>
              <a:spcAft>
                <a:spcPct val="0"/>
              </a:spcAft>
              <a:defRPr sz="4400" kern="1200">
                <a:solidFill>
                  <a:srgbClr val="2E68B2"/>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endParaRPr lang="en-US" dirty="0"/>
          </a:p>
        </p:txBody>
      </p:sp>
      <p:pic>
        <p:nvPicPr>
          <p:cNvPr id="10" name="Picture 9"/>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610600" y="6380759"/>
            <a:ext cx="1160810" cy="401051"/>
          </a:xfrm>
          <a:prstGeom prst="rect">
            <a:avLst/>
          </a:prstGeom>
        </p:spPr>
      </p:pic>
      <p:sp>
        <p:nvSpPr>
          <p:cNvPr id="11" name="TextBox 10"/>
          <p:cNvSpPr txBox="1"/>
          <p:nvPr userDrawn="1"/>
        </p:nvSpPr>
        <p:spPr>
          <a:xfrm>
            <a:off x="2148" y="6553933"/>
            <a:ext cx="412927" cy="292384"/>
          </a:xfrm>
          <a:prstGeom prst="rect">
            <a:avLst/>
          </a:prstGeom>
          <a:noFill/>
        </p:spPr>
        <p:txBody>
          <a:bodyPr wrap="none" lIns="121917" tIns="60958" rIns="121917" bIns="60958" rtlCol="0">
            <a:spAutoFit/>
          </a:bodyPr>
          <a:lstStyle/>
          <a:p>
            <a:pPr algn="l"/>
            <a:fld id="{111F478C-84AE-4601-9BE4-60468A3A6C06}" type="slidenum">
              <a:rPr lang="en-US" sz="1100" smtClean="0">
                <a:solidFill>
                  <a:schemeClr val="tx1">
                    <a:alpha val="50000"/>
                  </a:schemeClr>
                </a:solidFill>
                <a:latin typeface="+mj-lt"/>
              </a:rPr>
              <a:pPr algn="l"/>
              <a:t>‹#›</a:t>
            </a:fld>
            <a:endParaRPr lang="en-US" sz="1100" dirty="0">
              <a:solidFill>
                <a:schemeClr val="tx1">
                  <a:alpha val="50000"/>
                </a:schemeClr>
              </a:solidFill>
              <a:latin typeface="+mj-lt"/>
            </a:endParaRPr>
          </a:p>
        </p:txBody>
      </p:sp>
      <p:pic>
        <p:nvPicPr>
          <p:cNvPr id="2" name="Picture 1">
            <a:extLst>
              <a:ext uri="{FF2B5EF4-FFF2-40B4-BE49-F238E27FC236}">
                <a16:creationId xmlns:a16="http://schemas.microsoft.com/office/drawing/2014/main" id="{469985FF-8289-492F-9692-4ADD30657DDD}"/>
              </a:ext>
            </a:extLst>
          </p:cNvPr>
          <p:cNvPicPr>
            <a:picLocks noChangeAspect="1"/>
          </p:cNvPicPr>
          <p:nvPr userDrawn="1"/>
        </p:nvPicPr>
        <p:blipFill>
          <a:blip r:embed="rId15"/>
          <a:stretch>
            <a:fillRect/>
          </a:stretch>
        </p:blipFill>
        <p:spPr>
          <a:xfrm>
            <a:off x="7762658" y="6331326"/>
            <a:ext cx="548688" cy="499915"/>
          </a:xfrm>
          <a:prstGeom prst="rect">
            <a:avLst/>
          </a:prstGeom>
        </p:spPr>
      </p:pic>
    </p:spTree>
  </p:cSld>
  <p:clrMap bg1="lt1" tx1="dk1" bg2="lt2" tx2="dk2" accent1="accent1" accent2="accent2" accent3="accent3" accent4="accent4" accent5="accent5" accent6="accent6" hlink="hlink" folHlink="folHlink"/>
  <p:sldLayoutIdLst>
    <p:sldLayoutId id="2147485444" r:id="rId1"/>
    <p:sldLayoutId id="2147485445" r:id="rId2"/>
    <p:sldLayoutId id="2147485447" r:id="rId3"/>
    <p:sldLayoutId id="2147485448" r:id="rId4"/>
    <p:sldLayoutId id="2147485449" r:id="rId5"/>
    <p:sldLayoutId id="2147485450" r:id="rId6"/>
    <p:sldLayoutId id="2147485451" r:id="rId7"/>
    <p:sldLayoutId id="2147485452" r:id="rId8"/>
    <p:sldLayoutId id="2147485453" r:id="rId9"/>
    <p:sldLayoutId id="2147485454" r:id="rId10"/>
  </p:sldLayoutIdLst>
  <p:transition/>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David.testa@smarterp.com" TargetMode="External"/><Relationship Id="rId5" Type="http://schemas.openxmlformats.org/officeDocument/2006/relationships/image" Target="../media/image3.png"/><Relationship Id="rId4" Type="http://schemas.openxmlformats.org/officeDocument/2006/relationships/image" Target="../media/image6.jpeg"/><Relationship Id="rId9" Type="http://schemas.openxmlformats.org/officeDocument/2006/relationships/image" Target="../media/image9.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02" y="6109237"/>
            <a:ext cx="1942104" cy="648178"/>
          </a:xfrm>
          <a:prstGeom prst="rect">
            <a:avLst/>
          </a:prstGeom>
        </p:spPr>
      </p:pic>
      <p:sp>
        <p:nvSpPr>
          <p:cNvPr id="5" name="TextBox 4"/>
          <p:cNvSpPr txBox="1"/>
          <p:nvPr/>
        </p:nvSpPr>
        <p:spPr>
          <a:xfrm>
            <a:off x="217714" y="252948"/>
            <a:ext cx="11517086" cy="3046988"/>
          </a:xfrm>
          <a:prstGeom prst="rect">
            <a:avLst/>
          </a:prstGeom>
          <a:noFill/>
        </p:spPr>
        <p:txBody>
          <a:bodyPr wrap="square" rtlCol="0">
            <a:spAutoFit/>
          </a:bodyPr>
          <a:lstStyle/>
          <a:p>
            <a:pPr algn="ctr"/>
            <a:endParaRPr lang="en-US" sz="4800" i="1" spc="-150" dirty="0">
              <a:solidFill>
                <a:schemeClr val="bg1"/>
              </a:solidFill>
            </a:endParaRPr>
          </a:p>
          <a:p>
            <a:pPr algn="ctr"/>
            <a:endParaRPr lang="en-US" sz="4800" i="1" spc="-150" dirty="0">
              <a:solidFill>
                <a:schemeClr val="bg1"/>
              </a:solidFill>
            </a:endParaRPr>
          </a:p>
          <a:p>
            <a:pPr algn="ctr"/>
            <a:r>
              <a:rPr lang="en-US" sz="4800" spc="-150" dirty="0">
                <a:solidFill>
                  <a:schemeClr val="bg1"/>
                </a:solidFill>
              </a:rPr>
              <a:t>Smart ERP Solutions</a:t>
            </a:r>
          </a:p>
          <a:p>
            <a:pPr algn="ctr"/>
            <a:r>
              <a:rPr lang="en-US" sz="4800" spc="-150" dirty="0">
                <a:solidFill>
                  <a:schemeClr val="bg1"/>
                </a:solidFill>
              </a:rPr>
              <a:t>NetSuite ERP Assessment Approach</a:t>
            </a:r>
            <a:endParaRPr lang="en-US" sz="4800" i="1" spc="-150" dirty="0">
              <a:solidFill>
                <a:schemeClr val="bg1"/>
              </a:solidFill>
            </a:endParaRPr>
          </a:p>
        </p:txBody>
      </p:sp>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85807" y="6116596"/>
            <a:ext cx="1160810" cy="585213"/>
          </a:xfrm>
          <a:prstGeom prst="rect">
            <a:avLst/>
          </a:prstGeom>
        </p:spPr>
      </p:pic>
      <p:sp>
        <p:nvSpPr>
          <p:cNvPr id="2" name="TextBox 1">
            <a:extLst>
              <a:ext uri="{FF2B5EF4-FFF2-40B4-BE49-F238E27FC236}">
                <a16:creationId xmlns:a16="http://schemas.microsoft.com/office/drawing/2014/main" id="{211DBEE7-EDC7-424A-8AA7-7C49CB94E012}"/>
              </a:ext>
            </a:extLst>
          </p:cNvPr>
          <p:cNvSpPr txBox="1"/>
          <p:nvPr/>
        </p:nvSpPr>
        <p:spPr>
          <a:xfrm>
            <a:off x="8458200" y="4495800"/>
            <a:ext cx="3428998" cy="1231106"/>
          </a:xfrm>
          <a:prstGeom prst="rect">
            <a:avLst/>
          </a:prstGeom>
          <a:noFill/>
        </p:spPr>
        <p:txBody>
          <a:bodyPr wrap="square" rtlCol="0">
            <a:spAutoFit/>
          </a:bodyPr>
          <a:lstStyle/>
          <a:p>
            <a:r>
              <a:rPr lang="en-US" sz="2000" b="1" dirty="0">
                <a:solidFill>
                  <a:schemeClr val="bg1"/>
                </a:solidFill>
              </a:rPr>
              <a:t>Anuradha Mohril</a:t>
            </a:r>
          </a:p>
          <a:p>
            <a:r>
              <a:rPr lang="en-US" dirty="0">
                <a:solidFill>
                  <a:schemeClr val="bg1"/>
                </a:solidFill>
              </a:rPr>
              <a:t>Solution Architect</a:t>
            </a:r>
          </a:p>
          <a:p>
            <a:r>
              <a:rPr lang="en-US" dirty="0">
                <a:solidFill>
                  <a:schemeClr val="accent2"/>
                </a:solidFill>
                <a:hlinkClick r:id="rId6">
                  <a:extLst>
                    <a:ext uri="{A12FA001-AC4F-418D-AE19-62706E023703}">
                      <ahyp:hlinkClr xmlns="" xmlns:ahyp="http://schemas.microsoft.com/office/drawing/2018/hyperlinkcolor" val="tx"/>
                    </a:ext>
                  </a:extLst>
                </a:hlinkClick>
              </a:rPr>
              <a:t>anuradha@smarterp.com</a:t>
            </a:r>
            <a:endParaRPr lang="en-US" dirty="0">
              <a:solidFill>
                <a:schemeClr val="accent2"/>
              </a:solidFill>
            </a:endParaRPr>
          </a:p>
          <a:p>
            <a:r>
              <a:rPr lang="en-US" dirty="0">
                <a:solidFill>
                  <a:schemeClr val="bg1"/>
                </a:solidFill>
              </a:rPr>
              <a:t>Dec 16, 2021</a:t>
            </a:r>
          </a:p>
        </p:txBody>
      </p:sp>
      <p:pic>
        <p:nvPicPr>
          <p:cNvPr id="10" name="Picture 9">
            <a:extLst>
              <a:ext uri="{FF2B5EF4-FFF2-40B4-BE49-F238E27FC236}">
                <a16:creationId xmlns:a16="http://schemas.microsoft.com/office/drawing/2014/main" id="{3218BCA8-C713-4BB3-9402-1C9F96C17503}"/>
              </a:ext>
            </a:extLst>
          </p:cNvPr>
          <p:cNvPicPr>
            <a:picLocks noChangeAspect="1"/>
          </p:cNvPicPr>
          <p:nvPr/>
        </p:nvPicPr>
        <p:blipFill>
          <a:blip r:embed="rId7"/>
          <a:stretch>
            <a:fillRect/>
          </a:stretch>
        </p:blipFill>
        <p:spPr>
          <a:xfrm>
            <a:off x="5428020" y="6176838"/>
            <a:ext cx="839177" cy="512976"/>
          </a:xfrm>
          <a:prstGeom prst="rect">
            <a:avLst/>
          </a:prstGeom>
        </p:spPr>
      </p:pic>
      <p:pic>
        <p:nvPicPr>
          <p:cNvPr id="3" name="Picture 2">
            <a:extLst>
              <a:ext uri="{FF2B5EF4-FFF2-40B4-BE49-F238E27FC236}">
                <a16:creationId xmlns:a16="http://schemas.microsoft.com/office/drawing/2014/main" id="{A50087F4-8BF9-4720-B0C8-DE1C12E8820B}"/>
              </a:ext>
            </a:extLst>
          </p:cNvPr>
          <p:cNvPicPr>
            <a:picLocks noChangeAspect="1"/>
          </p:cNvPicPr>
          <p:nvPr/>
        </p:nvPicPr>
        <p:blipFill>
          <a:blip r:embed="rId8"/>
          <a:stretch>
            <a:fillRect/>
          </a:stretch>
        </p:blipFill>
        <p:spPr>
          <a:xfrm>
            <a:off x="3965354" y="6255006"/>
            <a:ext cx="1310264" cy="356640"/>
          </a:xfrm>
          <a:prstGeom prst="rect">
            <a:avLst/>
          </a:prstGeom>
        </p:spPr>
      </p:pic>
      <p:pic>
        <p:nvPicPr>
          <p:cNvPr id="1028" name="Picture 4" descr="AAMP Global Rebrands and Repositions itself to Align with Core Technology  Strengths">
            <a:extLst>
              <a:ext uri="{FF2B5EF4-FFF2-40B4-BE49-F238E27FC236}">
                <a16:creationId xmlns:a16="http://schemas.microsoft.com/office/drawing/2014/main" id="{7DF07819-057E-42DD-B3FC-F56F3A464028}"/>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2990" t="38069" r="22989" b="37128"/>
          <a:stretch/>
        </p:blipFill>
        <p:spPr bwMode="auto">
          <a:xfrm>
            <a:off x="3951514" y="609600"/>
            <a:ext cx="4049486" cy="972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91954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95C76-A1B5-46E9-A840-46E159FB2546}"/>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8AFF9526-BB0A-442B-9F9C-7DB3F66DCC17}"/>
              </a:ext>
            </a:extLst>
          </p:cNvPr>
          <p:cNvSpPr>
            <a:spLocks noGrp="1"/>
          </p:cNvSpPr>
          <p:nvPr>
            <p:ph idx="1"/>
          </p:nvPr>
        </p:nvSpPr>
        <p:spPr>
          <a:xfrm>
            <a:off x="609600" y="1143000"/>
            <a:ext cx="10972800" cy="5398691"/>
          </a:xfrm>
        </p:spPr>
        <p:txBody>
          <a:bodyPr/>
          <a:lstStyle/>
          <a:p>
            <a:r>
              <a:rPr lang="en-US" sz="2400" dirty="0" smtClean="0"/>
              <a:t>Current </a:t>
            </a:r>
            <a:r>
              <a:rPr lang="en-US" sz="2400" dirty="0"/>
              <a:t>Situation</a:t>
            </a:r>
          </a:p>
          <a:p>
            <a:pPr lvl="1"/>
            <a:r>
              <a:rPr lang="en-US" sz="2000" dirty="0"/>
              <a:t>ACS Reviewed</a:t>
            </a:r>
          </a:p>
          <a:p>
            <a:pPr lvl="1"/>
            <a:r>
              <a:rPr lang="en-US" sz="2000" dirty="0"/>
              <a:t>NS Instance Reviewed</a:t>
            </a:r>
          </a:p>
          <a:p>
            <a:r>
              <a:rPr lang="en-US" sz="2400" dirty="0"/>
              <a:t>Current Analysis</a:t>
            </a:r>
          </a:p>
          <a:p>
            <a:pPr lvl="1"/>
            <a:r>
              <a:rPr lang="en-US" sz="2000" dirty="0" smtClean="0"/>
              <a:t>Our few </a:t>
            </a:r>
            <a:r>
              <a:rPr lang="en-US" sz="2000" dirty="0"/>
              <a:t>observations</a:t>
            </a:r>
          </a:p>
          <a:p>
            <a:pPr lvl="1"/>
            <a:r>
              <a:rPr lang="en-US" sz="2000" dirty="0" smtClean="0"/>
              <a:t>Our questions on observations</a:t>
            </a:r>
            <a:endParaRPr lang="en-US" sz="2000" dirty="0"/>
          </a:p>
          <a:p>
            <a:pPr lvl="1"/>
            <a:r>
              <a:rPr lang="en-US" sz="2000" dirty="0"/>
              <a:t>Right away </a:t>
            </a:r>
            <a:r>
              <a:rPr lang="en-US" sz="2000" dirty="0" smtClean="0"/>
              <a:t>Recommendation and Quick </a:t>
            </a:r>
            <a:r>
              <a:rPr lang="en-US" sz="2000" dirty="0"/>
              <a:t>Fixes</a:t>
            </a:r>
          </a:p>
          <a:p>
            <a:r>
              <a:rPr lang="en-US" sz="2400" dirty="0"/>
              <a:t>Next </a:t>
            </a:r>
            <a:r>
              <a:rPr lang="en-US" sz="2400" dirty="0" smtClean="0"/>
              <a:t>Steps</a:t>
            </a:r>
          </a:p>
          <a:p>
            <a:pPr lvl="1"/>
            <a:r>
              <a:rPr lang="en-US" sz="2000" dirty="0"/>
              <a:t>Phase-1 Objective</a:t>
            </a:r>
          </a:p>
          <a:p>
            <a:pPr lvl="1"/>
            <a:r>
              <a:rPr lang="en-US" sz="2000" dirty="0"/>
              <a:t>Phase-1 Prerequisite</a:t>
            </a:r>
          </a:p>
          <a:p>
            <a:pPr lvl="1"/>
            <a:r>
              <a:rPr lang="en-US" sz="2000" dirty="0"/>
              <a:t>Phase-2 Objective</a:t>
            </a:r>
          </a:p>
        </p:txBody>
      </p:sp>
    </p:spTree>
    <p:extLst>
      <p:ext uri="{BB962C8B-B14F-4D97-AF65-F5344CB8AC3E}">
        <p14:creationId xmlns:p14="http://schemas.microsoft.com/office/powerpoint/2010/main" val="351697025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CDB9DE-2B15-48F5-8B91-A7B76DF06623}"/>
              </a:ext>
            </a:extLst>
          </p:cNvPr>
          <p:cNvSpPr>
            <a:spLocks noGrp="1"/>
          </p:cNvSpPr>
          <p:nvPr>
            <p:ph idx="1"/>
          </p:nvPr>
        </p:nvSpPr>
        <p:spPr>
          <a:xfrm>
            <a:off x="304800" y="1066800"/>
            <a:ext cx="11506200" cy="5029200"/>
          </a:xfrm>
        </p:spPr>
        <p:txBody>
          <a:bodyPr/>
          <a:lstStyle/>
          <a:p>
            <a:pPr lvl="1">
              <a:buFont typeface="Wingdings" panose="05000000000000000000" pitchFamily="2" charset="2"/>
              <a:buChar char="q"/>
            </a:pPr>
            <a:endParaRPr lang="en-US" sz="1800" dirty="0" smtClean="0"/>
          </a:p>
          <a:p>
            <a:pPr lvl="1">
              <a:buFont typeface="Wingdings" panose="05000000000000000000" pitchFamily="2" charset="2"/>
              <a:buChar char="q"/>
            </a:pPr>
            <a:r>
              <a:rPr lang="en-US" sz="1800" dirty="0" smtClean="0"/>
              <a:t>AAMP account users are facing performance issues in account specially on Sales orders , Invoice and Purchase Order forms.</a:t>
            </a:r>
          </a:p>
          <a:p>
            <a:pPr lvl="1">
              <a:buFont typeface="Wingdings" panose="05000000000000000000" pitchFamily="2" charset="2"/>
              <a:buChar char="q"/>
            </a:pPr>
            <a:r>
              <a:rPr lang="en-US" sz="1800" dirty="0" smtClean="0"/>
              <a:t>Netsuite ACS team reviewed account and published Report which specifies overall observations with respect to Transactions Create/Edit/New events. </a:t>
            </a:r>
          </a:p>
          <a:p>
            <a:pPr lvl="1">
              <a:buFont typeface="Wingdings" panose="05000000000000000000" pitchFamily="2" charset="2"/>
              <a:buChar char="q"/>
            </a:pPr>
            <a:r>
              <a:rPr lang="en-US" sz="1800" dirty="0" smtClean="0"/>
              <a:t>It specifies scripts , workflows and custom fields which are not developed or configured as per best practices and so have low or high impacts on performance.</a:t>
            </a:r>
          </a:p>
          <a:p>
            <a:pPr lvl="1">
              <a:buFont typeface="Wingdings" panose="05000000000000000000" pitchFamily="2" charset="2"/>
              <a:buChar char="q"/>
            </a:pPr>
            <a:r>
              <a:rPr lang="en-US" sz="1800" dirty="0" smtClean="0"/>
              <a:t>ACS team has also given details of customization (forms/fields/layouts..) , Bundles , Features ,</a:t>
            </a:r>
            <a:r>
              <a:rPr lang="en-US" sz="1800" dirty="0" err="1" smtClean="0"/>
              <a:t>addon</a:t>
            </a:r>
            <a:r>
              <a:rPr lang="en-US" sz="1800" dirty="0" smtClean="0"/>
              <a:t> Modules transactions count per year, Items , entities and other Masters. </a:t>
            </a:r>
          </a:p>
          <a:p>
            <a:pPr lvl="1">
              <a:buFont typeface="Wingdings" panose="05000000000000000000" pitchFamily="2" charset="2"/>
              <a:buChar char="q"/>
            </a:pPr>
            <a:r>
              <a:rPr lang="en-US" sz="1800" dirty="0" smtClean="0"/>
              <a:t>Smart ERP team expected to check the ASC report , analyze it and perform self analysis. And implement suggestions which can improve performance.</a:t>
            </a:r>
          </a:p>
          <a:p>
            <a:pPr lvl="1">
              <a:buFont typeface="Wingdings" panose="05000000000000000000" pitchFamily="2" charset="2"/>
              <a:buChar char="q"/>
            </a:pPr>
            <a:r>
              <a:rPr lang="en-US" sz="1800" dirty="0" smtClean="0"/>
              <a:t>So we have gone through the reports and details given by ASC team and have done self analysis of the sandbox account as well.</a:t>
            </a:r>
          </a:p>
          <a:p>
            <a:pPr lvl="1">
              <a:buFont typeface="Wingdings" panose="05000000000000000000" pitchFamily="2" charset="2"/>
              <a:buChar char="q"/>
            </a:pPr>
            <a:r>
              <a:rPr lang="en-US" sz="1800" dirty="0" smtClean="0"/>
              <a:t>After our review and analysis, following are our observations , suggestions and questions :</a:t>
            </a:r>
            <a:endParaRPr lang="en-US" sz="1800" dirty="0"/>
          </a:p>
        </p:txBody>
      </p:sp>
      <p:sp>
        <p:nvSpPr>
          <p:cNvPr id="5" name="Title 4">
            <a:extLst>
              <a:ext uri="{FF2B5EF4-FFF2-40B4-BE49-F238E27FC236}">
                <a16:creationId xmlns:a16="http://schemas.microsoft.com/office/drawing/2014/main" id="{2172F726-9D4F-4C40-84B8-BBA918B3035A}"/>
              </a:ext>
            </a:extLst>
          </p:cNvPr>
          <p:cNvSpPr>
            <a:spLocks noGrp="1"/>
          </p:cNvSpPr>
          <p:nvPr>
            <p:ph type="title"/>
          </p:nvPr>
        </p:nvSpPr>
        <p:spPr/>
        <p:txBody>
          <a:bodyPr/>
          <a:lstStyle/>
          <a:p>
            <a:r>
              <a:rPr lang="en-US" dirty="0" smtClean="0"/>
              <a:t>Current Situation</a:t>
            </a:r>
            <a:endParaRPr lang="en-US" dirty="0"/>
          </a:p>
        </p:txBody>
      </p:sp>
    </p:spTree>
    <p:extLst>
      <p:ext uri="{BB962C8B-B14F-4D97-AF65-F5344CB8AC3E}">
        <p14:creationId xmlns:p14="http://schemas.microsoft.com/office/powerpoint/2010/main" val="312335470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F1F5-1D89-4679-86B2-0D40B1AE219F}"/>
              </a:ext>
            </a:extLst>
          </p:cNvPr>
          <p:cNvSpPr>
            <a:spLocks noGrp="1"/>
          </p:cNvSpPr>
          <p:nvPr>
            <p:ph type="title"/>
          </p:nvPr>
        </p:nvSpPr>
        <p:spPr/>
        <p:txBody>
          <a:bodyPr/>
          <a:lstStyle/>
          <a:p>
            <a:r>
              <a:rPr lang="en-US" dirty="0" smtClean="0"/>
              <a:t>Current Analysis</a:t>
            </a:r>
            <a:endParaRPr lang="en-US" dirty="0"/>
          </a:p>
        </p:txBody>
      </p:sp>
      <p:sp>
        <p:nvSpPr>
          <p:cNvPr id="3" name="Content Placeholder 2">
            <a:extLst>
              <a:ext uri="{FF2B5EF4-FFF2-40B4-BE49-F238E27FC236}">
                <a16:creationId xmlns:a16="http://schemas.microsoft.com/office/drawing/2014/main" id="{F10EF44A-D6C2-4832-9F07-F1FDDD6C641D}"/>
              </a:ext>
            </a:extLst>
          </p:cNvPr>
          <p:cNvSpPr>
            <a:spLocks noGrp="1"/>
          </p:cNvSpPr>
          <p:nvPr>
            <p:ph idx="1"/>
          </p:nvPr>
        </p:nvSpPr>
        <p:spPr>
          <a:xfrm>
            <a:off x="152400" y="849708"/>
            <a:ext cx="11887200" cy="5322491"/>
          </a:xfrm>
        </p:spPr>
        <p:txBody>
          <a:bodyPr/>
          <a:lstStyle/>
          <a:p>
            <a:r>
              <a:rPr lang="en-US" sz="2800" dirty="0" smtClean="0"/>
              <a:t>Few Observations and Questions:</a:t>
            </a:r>
            <a:endParaRPr lang="en-US" sz="2800" dirty="0"/>
          </a:p>
          <a:p>
            <a:pPr marL="800100" lvl="1" indent="-342900">
              <a:buFont typeface="+mj-lt"/>
              <a:buAutoNum type="arabicPeriod"/>
            </a:pPr>
            <a:r>
              <a:rPr lang="en-US" sz="1800" dirty="0"/>
              <a:t>AAMP </a:t>
            </a:r>
            <a:r>
              <a:rPr lang="en-US" sz="1800" dirty="0" smtClean="0"/>
              <a:t>Netsuite account has dedicated server and premium tier with one Suite cloud plus license. </a:t>
            </a:r>
            <a:r>
              <a:rPr lang="en-US" sz="1800" dirty="0"/>
              <a:t>So it has 15+ </a:t>
            </a:r>
            <a:r>
              <a:rPr lang="en-US" sz="1800" dirty="0" smtClean="0"/>
              <a:t>1*10=25 concurrency limit now.</a:t>
            </a:r>
          </a:p>
          <a:p>
            <a:pPr marL="800100" lvl="1" indent="-342900">
              <a:buFont typeface="+mj-lt"/>
              <a:buAutoNum type="arabicPeriod"/>
            </a:pPr>
            <a:r>
              <a:rPr lang="en-US" sz="1800" dirty="0" smtClean="0"/>
              <a:t>There are many Integrations in account but they are not using token based authentications which it should ideally do. We want to know if all Integrations are in use ??</a:t>
            </a:r>
          </a:p>
          <a:p>
            <a:pPr marL="800100" lvl="1" indent="-342900">
              <a:buFont typeface="+mj-lt"/>
              <a:buAutoNum type="arabicPeriod"/>
            </a:pPr>
            <a:r>
              <a:rPr lang="en-US" sz="1800" dirty="0" smtClean="0"/>
              <a:t> This account has 315 backend scripts but proper priority is not defined and unallocated concurrency limit is 24 so workload is not divided properly among backend scripts, integrations , any reason for this license??</a:t>
            </a:r>
          </a:p>
          <a:p>
            <a:pPr marL="800100" lvl="1" indent="-342900">
              <a:buFont typeface="+mj-lt"/>
              <a:buAutoNum type="arabicPeriod"/>
            </a:pPr>
            <a:r>
              <a:rPr lang="en-US" sz="1800" dirty="0" smtClean="0"/>
              <a:t>There are many add on modules , advanced features enabled in account , are all </a:t>
            </a:r>
            <a:r>
              <a:rPr lang="en-US" sz="1800" dirty="0" smtClean="0"/>
              <a:t>of them </a:t>
            </a:r>
            <a:r>
              <a:rPr lang="en-US" sz="1800" dirty="0" smtClean="0"/>
              <a:t>in use??</a:t>
            </a:r>
          </a:p>
          <a:p>
            <a:pPr marL="800100" lvl="1" indent="-342900">
              <a:buFont typeface="+mj-lt"/>
              <a:buAutoNum type="arabicPeriod"/>
            </a:pPr>
            <a:r>
              <a:rPr lang="en-US" sz="1800" dirty="0" smtClean="0"/>
              <a:t>There are 70 bundles installed in account for various Integrations and </a:t>
            </a:r>
            <a:r>
              <a:rPr lang="en-US" sz="1800" dirty="0" smtClean="0"/>
              <a:t>customizations. </a:t>
            </a:r>
            <a:r>
              <a:rPr lang="en-US" sz="1800" dirty="0" smtClean="0"/>
              <a:t>Those need to revisited for in use or not. Are all bundles required  and currently you are using </a:t>
            </a:r>
            <a:r>
              <a:rPr lang="en-US" sz="1800" dirty="0" smtClean="0"/>
              <a:t>it?? </a:t>
            </a:r>
            <a:endParaRPr lang="en-US" sz="1800" dirty="0" smtClean="0"/>
          </a:p>
          <a:p>
            <a:pPr marL="800100" lvl="1" indent="-342900">
              <a:buFont typeface="+mj-lt"/>
              <a:buAutoNum type="arabicPeriod"/>
            </a:pPr>
            <a:r>
              <a:rPr lang="en-US" sz="1800" dirty="0" smtClean="0"/>
              <a:t>There are 546 custom records 651 header and 178 line level custom fields which needs to be  revisited. If they are not in use then we need to discuss and remove them.</a:t>
            </a:r>
          </a:p>
          <a:p>
            <a:pPr marL="800100" lvl="1" indent="-342900">
              <a:buFont typeface="+mj-lt"/>
              <a:buAutoNum type="arabicPeriod"/>
            </a:pPr>
            <a:r>
              <a:rPr lang="en-US" sz="1800" dirty="0" smtClean="0"/>
              <a:t>There are many custom subtabs on transaction forms like Sales order which are shown majorly due to various bundles installed. Need to revisit , discuss and restrict those on specific forms only.</a:t>
            </a:r>
          </a:p>
          <a:p>
            <a:pPr marL="800100" lvl="1" indent="-342900">
              <a:buFont typeface="+mj-lt"/>
              <a:buAutoNum type="arabicPeriod"/>
            </a:pPr>
            <a:r>
              <a:rPr lang="en-US" sz="1800" dirty="0"/>
              <a:t>In sandbox , there 1173 search which are public , Need to check its  filters and columns if it has </a:t>
            </a:r>
            <a:r>
              <a:rPr lang="en-US" sz="1800" dirty="0" smtClean="0"/>
              <a:t>joint </a:t>
            </a:r>
            <a:r>
              <a:rPr lang="en-US" sz="1800" dirty="0"/>
              <a:t>/related forms fields </a:t>
            </a:r>
            <a:r>
              <a:rPr lang="en-US" sz="1800" dirty="0" smtClean="0"/>
              <a:t>and check </a:t>
            </a:r>
            <a:r>
              <a:rPr lang="en-US" sz="1800" dirty="0" smtClean="0"/>
              <a:t>if </a:t>
            </a:r>
            <a:r>
              <a:rPr lang="en-US" sz="1800" dirty="0"/>
              <a:t>we can avoid </a:t>
            </a:r>
            <a:r>
              <a:rPr lang="en-US" sz="1800" dirty="0" smtClean="0"/>
              <a:t>it. </a:t>
            </a:r>
          </a:p>
          <a:p>
            <a:pPr marL="457200" lvl="1" indent="0">
              <a:buNone/>
            </a:pPr>
            <a:endParaRPr lang="en-US" sz="1800" dirty="0" smtClean="0"/>
          </a:p>
          <a:p>
            <a:pPr marL="457200" lvl="1" indent="0">
              <a:buNone/>
            </a:pPr>
            <a:endParaRPr lang="en-US" sz="1800" dirty="0"/>
          </a:p>
        </p:txBody>
      </p:sp>
    </p:spTree>
    <p:extLst>
      <p:ext uri="{BB962C8B-B14F-4D97-AF65-F5344CB8AC3E}">
        <p14:creationId xmlns:p14="http://schemas.microsoft.com/office/powerpoint/2010/main" val="292931950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F1F5-1D89-4679-86B2-0D40B1AE219F}"/>
              </a:ext>
            </a:extLst>
          </p:cNvPr>
          <p:cNvSpPr>
            <a:spLocks noGrp="1"/>
          </p:cNvSpPr>
          <p:nvPr>
            <p:ph type="title"/>
          </p:nvPr>
        </p:nvSpPr>
        <p:spPr/>
        <p:txBody>
          <a:bodyPr/>
          <a:lstStyle/>
          <a:p>
            <a:r>
              <a:rPr lang="en-US" dirty="0" smtClean="0"/>
              <a:t>Current Analysis</a:t>
            </a:r>
            <a:endParaRPr lang="en-US" dirty="0"/>
          </a:p>
        </p:txBody>
      </p:sp>
      <p:sp>
        <p:nvSpPr>
          <p:cNvPr id="3" name="Content Placeholder 2">
            <a:extLst>
              <a:ext uri="{FF2B5EF4-FFF2-40B4-BE49-F238E27FC236}">
                <a16:creationId xmlns:a16="http://schemas.microsoft.com/office/drawing/2014/main" id="{F10EF44A-D6C2-4832-9F07-F1FDDD6C641D}"/>
              </a:ext>
            </a:extLst>
          </p:cNvPr>
          <p:cNvSpPr>
            <a:spLocks noGrp="1"/>
          </p:cNvSpPr>
          <p:nvPr>
            <p:ph idx="1"/>
          </p:nvPr>
        </p:nvSpPr>
        <p:spPr>
          <a:xfrm>
            <a:off x="152400" y="849708"/>
            <a:ext cx="11887200" cy="5322491"/>
          </a:xfrm>
        </p:spPr>
        <p:txBody>
          <a:bodyPr/>
          <a:lstStyle/>
          <a:p>
            <a:pPr marL="0" indent="0">
              <a:buNone/>
            </a:pPr>
            <a:endParaRPr lang="en-US" sz="2800" dirty="0" smtClean="0"/>
          </a:p>
          <a:p>
            <a:pPr marL="800100" lvl="1" indent="-342900">
              <a:buFont typeface="+mj-lt"/>
              <a:buAutoNum type="arabicPeriod" startAt="9"/>
            </a:pPr>
            <a:r>
              <a:rPr lang="en-US" sz="1800" dirty="0"/>
              <a:t>There are 9 scripts , 3 workflows on Sales order, 19 released scripts and 5 workflows on Purchase order, 40 released scripts and 2 workflows on Invoice. </a:t>
            </a:r>
          </a:p>
          <a:p>
            <a:pPr marL="800100" lvl="1" indent="-342900">
              <a:buFont typeface="+mj-lt"/>
              <a:buAutoNum type="arabicPeriod" startAt="9"/>
            </a:pPr>
            <a:r>
              <a:rPr lang="en-US" sz="1800" dirty="0" smtClean="0"/>
              <a:t>Major </a:t>
            </a:r>
            <a:r>
              <a:rPr lang="en-US" sz="1800" dirty="0"/>
              <a:t>scripts, workflows, fields highlighted by ACS are from bundles so we need to either revisit and remove bundles which are not </a:t>
            </a:r>
            <a:r>
              <a:rPr lang="en-US" sz="1800" dirty="0" smtClean="0"/>
              <a:t>in </a:t>
            </a:r>
            <a:r>
              <a:rPr lang="en-US" sz="1800" dirty="0"/>
              <a:t>use or contact specific vendors for optimization as those components are locked.</a:t>
            </a:r>
          </a:p>
          <a:p>
            <a:pPr marL="800100" lvl="1" indent="-342900">
              <a:buFont typeface="+mj-lt"/>
              <a:buAutoNum type="arabicPeriod" startAt="9"/>
            </a:pPr>
            <a:r>
              <a:rPr lang="en-US" sz="1800" dirty="0" smtClean="0"/>
              <a:t>Other small number of scripts or workflows which are unlocked on transactions execute for all events , users , </a:t>
            </a:r>
            <a:r>
              <a:rPr lang="en-US" sz="1800" dirty="0"/>
              <a:t>subsidiaries</a:t>
            </a:r>
            <a:r>
              <a:rPr lang="en-US" sz="1800" dirty="0" smtClean="0"/>
              <a:t>. So we need to discuss functionality and restrict it for </a:t>
            </a:r>
            <a:r>
              <a:rPr lang="en-US" sz="1800" dirty="0"/>
              <a:t>required event types, Context and localization , subsidiaries , roles if possible</a:t>
            </a:r>
            <a:r>
              <a:rPr lang="en-US" sz="1800" dirty="0" smtClean="0"/>
              <a:t>.</a:t>
            </a:r>
          </a:p>
          <a:p>
            <a:pPr marL="800100" lvl="1" indent="-342900">
              <a:buFont typeface="+mj-lt"/>
              <a:buAutoNum type="arabicPeriod" startAt="9"/>
            </a:pPr>
            <a:r>
              <a:rPr lang="en-US" sz="1800" dirty="0" smtClean="0"/>
              <a:t>Also disable logging in these scripts and Workflows, check if we can implement any other best practices in logic to improve performance.</a:t>
            </a:r>
          </a:p>
          <a:p>
            <a:pPr marL="800100" lvl="1" indent="-342900">
              <a:buFont typeface="+mj-lt"/>
              <a:buAutoNum type="arabicPeriod" startAt="9"/>
            </a:pPr>
            <a:r>
              <a:rPr lang="en-US" sz="1800" dirty="0"/>
              <a:t>Remove /</a:t>
            </a:r>
            <a:r>
              <a:rPr lang="en-US" sz="1800" dirty="0" smtClean="0"/>
              <a:t>un-deploy scripts, workflows </a:t>
            </a:r>
            <a:r>
              <a:rPr lang="en-US" sz="1800" dirty="0"/>
              <a:t>not in use </a:t>
            </a:r>
            <a:r>
              <a:rPr lang="en-US" sz="1800" dirty="0" smtClean="0"/>
              <a:t>. Those could be created </a:t>
            </a:r>
            <a:r>
              <a:rPr lang="en-US" sz="1800" dirty="0"/>
              <a:t>for testing or is inactive now</a:t>
            </a:r>
            <a:r>
              <a:rPr lang="en-US" sz="1800" dirty="0" smtClean="0"/>
              <a:t>.</a:t>
            </a:r>
          </a:p>
          <a:p>
            <a:pPr marL="800100" lvl="1" indent="-342900">
              <a:buFont typeface="+mj-lt"/>
              <a:buAutoNum type="arabicPeriod" startAt="9"/>
            </a:pPr>
            <a:r>
              <a:rPr lang="en-US" sz="1800" dirty="0" smtClean="0"/>
              <a:t>Currently Edit and save of sales orders take 12-15 seconds .It comprises of Client (internet speed) and server time which </a:t>
            </a:r>
            <a:r>
              <a:rPr lang="en-US" sz="1800" dirty="0"/>
              <a:t>d</a:t>
            </a:r>
            <a:r>
              <a:rPr lang="en-US" sz="1800" dirty="0" smtClean="0"/>
              <a:t>isplays </a:t>
            </a:r>
            <a:r>
              <a:rPr lang="en-US" sz="1800" dirty="0"/>
              <a:t>the page load time in seconds and the percentage of the total page load time spent retrieving information from the NetSuite server</a:t>
            </a:r>
            <a:r>
              <a:rPr lang="en-US" sz="1800" dirty="0" smtClean="0"/>
              <a:t>.</a:t>
            </a:r>
          </a:p>
          <a:p>
            <a:pPr marL="800100" lvl="1" indent="-342900">
              <a:buFont typeface="+mj-lt"/>
              <a:buAutoNum type="arabicPeriod" startAt="9"/>
            </a:pPr>
            <a:r>
              <a:rPr lang="en-US" sz="1800" dirty="0" smtClean="0"/>
              <a:t> Could </a:t>
            </a:r>
            <a:r>
              <a:rPr lang="en-US" sz="1800" dirty="0"/>
              <a:t>not find this CUSTBODY_DED_WAVE_DATE_PRINTED </a:t>
            </a:r>
            <a:r>
              <a:rPr lang="en-US" sz="1800" dirty="0" smtClean="0"/>
              <a:t>and </a:t>
            </a:r>
            <a:r>
              <a:rPr lang="en-US" sz="1800" dirty="0"/>
              <a:t>CUSTBODY_ESC_CREATED_DATE </a:t>
            </a:r>
            <a:r>
              <a:rPr lang="en-US" sz="1800" dirty="0" smtClean="0"/>
              <a:t>body </a:t>
            </a:r>
            <a:r>
              <a:rPr lang="en-US" sz="1800" dirty="0"/>
              <a:t>level </a:t>
            </a:r>
            <a:r>
              <a:rPr lang="en-US" sz="1800" dirty="0" smtClean="0"/>
              <a:t>fields </a:t>
            </a:r>
            <a:r>
              <a:rPr lang="en-US" sz="1800" dirty="0"/>
              <a:t>which has been reported by ACS team as , critical.</a:t>
            </a:r>
          </a:p>
          <a:p>
            <a:pPr marL="800100" lvl="1" indent="-342900">
              <a:buFont typeface="+mj-lt"/>
              <a:buAutoNum type="arabicPeriod" startAt="9"/>
            </a:pPr>
            <a:r>
              <a:rPr lang="en-US" sz="1800" dirty="0"/>
              <a:t>Other fields suggestions by ACS team are from bundles so we cannot work on same </a:t>
            </a:r>
            <a:r>
              <a:rPr lang="en-US" sz="1800" dirty="0" smtClean="0"/>
              <a:t>, can be taken </a:t>
            </a:r>
            <a:r>
              <a:rPr lang="en-US" sz="1800" dirty="0" smtClean="0"/>
              <a:t>up by </a:t>
            </a:r>
            <a:r>
              <a:rPr lang="en-US" sz="1800" dirty="0" smtClean="0"/>
              <a:t>bundle owner.</a:t>
            </a:r>
            <a:endParaRPr lang="en-US" sz="1800" dirty="0"/>
          </a:p>
          <a:p>
            <a:pPr lvl="1">
              <a:buFont typeface="Wingdings" panose="05000000000000000000" pitchFamily="2" charset="2"/>
              <a:buChar char="q"/>
            </a:pPr>
            <a:endParaRPr lang="en-US" sz="1800" dirty="0" smtClean="0"/>
          </a:p>
          <a:p>
            <a:pPr lvl="1">
              <a:buFont typeface="Wingdings" panose="05000000000000000000" pitchFamily="2" charset="2"/>
              <a:buChar char="q"/>
            </a:pPr>
            <a:endParaRPr lang="en-US" sz="1800" dirty="0" smtClean="0"/>
          </a:p>
          <a:p>
            <a:pPr lvl="1">
              <a:buFont typeface="Wingdings" panose="05000000000000000000" pitchFamily="2" charset="2"/>
              <a:buChar char="q"/>
            </a:pPr>
            <a:endParaRPr lang="en-US" sz="1800" dirty="0"/>
          </a:p>
        </p:txBody>
      </p:sp>
    </p:spTree>
    <p:extLst>
      <p:ext uri="{BB962C8B-B14F-4D97-AF65-F5344CB8AC3E}">
        <p14:creationId xmlns:p14="http://schemas.microsoft.com/office/powerpoint/2010/main" val="210286944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Away Recommendations and Quick fixes</a:t>
            </a:r>
            <a:endParaRPr lang="en-US" dirty="0"/>
          </a:p>
        </p:txBody>
      </p:sp>
      <p:sp>
        <p:nvSpPr>
          <p:cNvPr id="3" name="Content Placeholder 2"/>
          <p:cNvSpPr>
            <a:spLocks noGrp="1"/>
          </p:cNvSpPr>
          <p:nvPr>
            <p:ph idx="1"/>
          </p:nvPr>
        </p:nvSpPr>
        <p:spPr>
          <a:xfrm>
            <a:off x="152400" y="838200"/>
            <a:ext cx="11887200" cy="5334000"/>
          </a:xfrm>
        </p:spPr>
        <p:txBody>
          <a:bodyPr/>
          <a:lstStyle/>
          <a:p>
            <a:pPr marL="0" lvl="1" indent="0">
              <a:buClr>
                <a:schemeClr val="tx2">
                  <a:lumMod val="60000"/>
                  <a:lumOff val="40000"/>
                </a:schemeClr>
              </a:buClr>
              <a:buNone/>
            </a:pPr>
            <a:endParaRPr lang="en-US" sz="1800" dirty="0" smtClean="0"/>
          </a:p>
          <a:p>
            <a:pPr lvl="1">
              <a:buClr>
                <a:schemeClr val="tx2">
                  <a:lumMod val="60000"/>
                  <a:lumOff val="40000"/>
                </a:schemeClr>
              </a:buClr>
              <a:buFont typeface="Wingdings" panose="05000000000000000000" pitchFamily="2" charset="2"/>
              <a:buChar char="q"/>
            </a:pPr>
            <a:r>
              <a:rPr lang="en-US" sz="1800" dirty="0" smtClean="0"/>
              <a:t>If any Integrations are for testing or not in use then disable those.</a:t>
            </a:r>
            <a:endParaRPr lang="en-US" sz="1800" dirty="0"/>
          </a:p>
          <a:p>
            <a:pPr lvl="1">
              <a:buClr>
                <a:schemeClr val="tx2">
                  <a:lumMod val="60000"/>
                  <a:lumOff val="40000"/>
                </a:schemeClr>
              </a:buClr>
              <a:buFont typeface="Wingdings" panose="05000000000000000000" pitchFamily="2" charset="2"/>
              <a:buChar char="q"/>
            </a:pPr>
            <a:r>
              <a:rPr lang="en-US" sz="1800" dirty="0" smtClean="0"/>
              <a:t>Check General /Global Preferences : </a:t>
            </a:r>
            <a:r>
              <a:rPr lang="en-US" sz="1800" dirty="0"/>
              <a:t>Delay Loading of </a:t>
            </a:r>
            <a:r>
              <a:rPr lang="en-US" sz="1800" dirty="0" smtClean="0"/>
              <a:t>Sub lists </a:t>
            </a:r>
            <a:r>
              <a:rPr lang="en-US" sz="1800" dirty="0"/>
              <a:t>box to initially load NetSuite pages without data on subtabs </a:t>
            </a:r>
            <a:r>
              <a:rPr lang="en-US" sz="1800" dirty="0" smtClean="0"/>
              <a:t>to improve performance. In sandbox it is checked , same should be done in production.</a:t>
            </a:r>
          </a:p>
          <a:p>
            <a:pPr lvl="1">
              <a:buClr>
                <a:schemeClr val="tx2">
                  <a:lumMod val="60000"/>
                  <a:lumOff val="40000"/>
                </a:schemeClr>
              </a:buClr>
              <a:buFont typeface="Wingdings" panose="05000000000000000000" pitchFamily="2" charset="2"/>
              <a:buChar char="q"/>
            </a:pPr>
            <a:r>
              <a:rPr lang="en-US" sz="1800" dirty="0"/>
              <a:t>Also check </a:t>
            </a:r>
            <a:r>
              <a:rPr lang="en-US" sz="1800" dirty="0" smtClean="0"/>
              <a:t>if preference : Number </a:t>
            </a:r>
            <a:r>
              <a:rPr lang="en-US" sz="1800" dirty="0"/>
              <a:t>of Rows in List </a:t>
            </a:r>
            <a:r>
              <a:rPr lang="en-US" sz="1800" dirty="0" smtClean="0"/>
              <a:t>Segments, it should be made 50 , now in sandbox it is 200.</a:t>
            </a:r>
          </a:p>
          <a:p>
            <a:pPr lvl="1">
              <a:buClr>
                <a:schemeClr val="tx2">
                  <a:lumMod val="60000"/>
                  <a:lumOff val="40000"/>
                </a:schemeClr>
              </a:buClr>
              <a:buFont typeface="Wingdings" panose="05000000000000000000" pitchFamily="2" charset="2"/>
              <a:buChar char="q"/>
            </a:pPr>
            <a:r>
              <a:rPr lang="en-US" sz="1800" dirty="0"/>
              <a:t>Also check if preference : Maximum Entries in Dropdowns , it should be </a:t>
            </a:r>
            <a:r>
              <a:rPr lang="en-US" sz="1800" dirty="0" smtClean="0"/>
              <a:t>50 or less.</a:t>
            </a:r>
          </a:p>
          <a:p>
            <a:pPr lvl="1">
              <a:buClr>
                <a:schemeClr val="tx2">
                  <a:lumMod val="60000"/>
                  <a:lumOff val="40000"/>
                </a:schemeClr>
              </a:buClr>
              <a:buFont typeface="Wingdings" panose="05000000000000000000" pitchFamily="2" charset="2"/>
              <a:buChar char="q"/>
            </a:pPr>
            <a:r>
              <a:rPr lang="en-US" sz="1800" dirty="0"/>
              <a:t>Any list with more results than this setting appears in a popup instead of a dropdown list. Using popups speeds page load time</a:t>
            </a:r>
            <a:r>
              <a:rPr lang="en-US" sz="1800" dirty="0" smtClean="0"/>
              <a:t>.</a:t>
            </a:r>
          </a:p>
          <a:p>
            <a:pPr lvl="1">
              <a:buClr>
                <a:schemeClr val="tx2">
                  <a:lumMod val="60000"/>
                  <a:lumOff val="40000"/>
                </a:schemeClr>
              </a:buClr>
              <a:buFont typeface="Wingdings" panose="05000000000000000000" pitchFamily="2" charset="2"/>
              <a:buChar char="q"/>
            </a:pPr>
            <a:r>
              <a:rPr lang="en-US" sz="1800" dirty="0" smtClean="0"/>
              <a:t>Check Saved searches in system, remove unwanted temporary searches. Do not make public if not required.</a:t>
            </a:r>
          </a:p>
          <a:p>
            <a:pPr lvl="1">
              <a:buClr>
                <a:schemeClr val="tx2">
                  <a:lumMod val="60000"/>
                  <a:lumOff val="40000"/>
                </a:schemeClr>
              </a:buClr>
              <a:buFont typeface="Wingdings" panose="05000000000000000000" pitchFamily="2" charset="2"/>
              <a:buChar char="q"/>
            </a:pPr>
            <a:r>
              <a:rPr lang="en-US" sz="1800" dirty="0" smtClean="0"/>
              <a:t>Review bundles installed and take updates if available and useful.</a:t>
            </a:r>
          </a:p>
          <a:p>
            <a:pPr lvl="1">
              <a:buClr>
                <a:schemeClr val="tx2">
                  <a:lumMod val="60000"/>
                  <a:lumOff val="40000"/>
                </a:schemeClr>
              </a:buClr>
              <a:buFont typeface="Wingdings" panose="05000000000000000000" pitchFamily="2" charset="2"/>
              <a:buChar char="q"/>
            </a:pPr>
            <a:r>
              <a:rPr lang="en-US" sz="1800" dirty="0" smtClean="0"/>
              <a:t>Uninstall bundles if you are aware that it is not used now.</a:t>
            </a:r>
          </a:p>
          <a:p>
            <a:pPr lvl="1">
              <a:buClr>
                <a:schemeClr val="tx2">
                  <a:lumMod val="60000"/>
                  <a:lumOff val="40000"/>
                </a:schemeClr>
              </a:buClr>
              <a:buFont typeface="Wingdings" panose="05000000000000000000" pitchFamily="2" charset="2"/>
              <a:buChar char="q"/>
            </a:pPr>
            <a:r>
              <a:rPr lang="en-US" sz="1800" dirty="0" smtClean="0"/>
              <a:t>Remove fields , forms , layouts if used for testing and not in use.</a:t>
            </a:r>
            <a:endParaRPr lang="en-US" sz="1800" dirty="0"/>
          </a:p>
          <a:p>
            <a:pPr lvl="1">
              <a:buClr>
                <a:schemeClr val="tx2">
                  <a:lumMod val="60000"/>
                  <a:lumOff val="40000"/>
                </a:schemeClr>
              </a:buClr>
              <a:buFont typeface="Wingdings" panose="05000000000000000000" pitchFamily="2" charset="2"/>
              <a:buChar char="q"/>
            </a:pPr>
            <a:endParaRPr lang="en-US" sz="1800" dirty="0" smtClean="0"/>
          </a:p>
          <a:p>
            <a:pPr lvl="1">
              <a:buClr>
                <a:schemeClr val="tx2">
                  <a:lumMod val="60000"/>
                  <a:lumOff val="40000"/>
                </a:schemeClr>
              </a:buClr>
              <a:buFont typeface="Wingdings" panose="05000000000000000000" pitchFamily="2" charset="2"/>
              <a:buChar char="q"/>
            </a:pPr>
            <a:endParaRPr lang="en-US" sz="1800" dirty="0"/>
          </a:p>
          <a:p>
            <a:pPr marL="0" indent="0">
              <a:buClr>
                <a:schemeClr val="tx2">
                  <a:lumMod val="60000"/>
                  <a:lumOff val="40000"/>
                </a:schemeClr>
              </a:buClr>
              <a:buNone/>
            </a:pPr>
            <a:endParaRPr lang="en-US" sz="2400" dirty="0"/>
          </a:p>
        </p:txBody>
      </p:sp>
    </p:spTree>
    <p:extLst>
      <p:ext uri="{BB962C8B-B14F-4D97-AF65-F5344CB8AC3E}">
        <p14:creationId xmlns:p14="http://schemas.microsoft.com/office/powerpoint/2010/main" val="312578258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steps</a:t>
            </a:r>
            <a:endParaRPr lang="en-US" dirty="0"/>
          </a:p>
        </p:txBody>
      </p:sp>
      <p:sp>
        <p:nvSpPr>
          <p:cNvPr id="3" name="Content Placeholder 2"/>
          <p:cNvSpPr>
            <a:spLocks noGrp="1"/>
          </p:cNvSpPr>
          <p:nvPr>
            <p:ph idx="1"/>
          </p:nvPr>
        </p:nvSpPr>
        <p:spPr>
          <a:xfrm>
            <a:off x="152400" y="838200"/>
            <a:ext cx="11887200" cy="5334000"/>
          </a:xfrm>
        </p:spPr>
        <p:txBody>
          <a:bodyPr/>
          <a:lstStyle/>
          <a:p>
            <a:pPr marL="457200" lvl="1" indent="0">
              <a:buClr>
                <a:schemeClr val="tx2">
                  <a:lumMod val="60000"/>
                  <a:lumOff val="40000"/>
                </a:schemeClr>
              </a:buClr>
              <a:buNone/>
            </a:pPr>
            <a:r>
              <a:rPr lang="en-US" sz="1800" b="1" i="1" dirty="0" smtClean="0"/>
              <a:t>Phase </a:t>
            </a:r>
            <a:r>
              <a:rPr lang="en-US" sz="1800" b="1" i="1" dirty="0" smtClean="0"/>
              <a:t>1 Objectives :</a:t>
            </a:r>
            <a:endParaRPr lang="en-US" sz="1800" dirty="0"/>
          </a:p>
          <a:p>
            <a:pPr lvl="1">
              <a:buClr>
                <a:schemeClr val="tx2">
                  <a:lumMod val="60000"/>
                  <a:lumOff val="40000"/>
                </a:schemeClr>
              </a:buClr>
              <a:buFont typeface="Wingdings" panose="05000000000000000000" pitchFamily="2" charset="2"/>
              <a:buChar char="q"/>
            </a:pPr>
            <a:r>
              <a:rPr lang="en-US" sz="1800" dirty="0" smtClean="0"/>
              <a:t>Discuss and gather feedback on </a:t>
            </a:r>
            <a:r>
              <a:rPr lang="en-US" sz="1800" dirty="0" smtClean="0"/>
              <a:t>suggested </a:t>
            </a:r>
            <a:r>
              <a:rPr lang="en-US" sz="1800" dirty="0" err="1" smtClean="0"/>
              <a:t>rightaway</a:t>
            </a:r>
            <a:r>
              <a:rPr lang="en-US" sz="1800" dirty="0" smtClean="0"/>
              <a:t> small fixes are implemented,</a:t>
            </a:r>
            <a:r>
              <a:rPr lang="en-US" sz="1800" dirty="0"/>
              <a:t> </a:t>
            </a:r>
            <a:r>
              <a:rPr lang="en-US" sz="1800" dirty="0" smtClean="0"/>
              <a:t>discuss previous </a:t>
            </a:r>
            <a:r>
              <a:rPr lang="en-US" sz="1800" dirty="0"/>
              <a:t>performance and improvement </a:t>
            </a:r>
            <a:r>
              <a:rPr lang="en-US" sz="1800" dirty="0" smtClean="0"/>
              <a:t>in same after </a:t>
            </a:r>
            <a:r>
              <a:rPr lang="en-US" sz="1800" dirty="0"/>
              <a:t>implementing </a:t>
            </a:r>
            <a:r>
              <a:rPr lang="en-US" sz="1800" dirty="0" smtClean="0"/>
              <a:t>all those suggested fixes.</a:t>
            </a:r>
          </a:p>
          <a:p>
            <a:pPr lvl="1">
              <a:buClr>
                <a:schemeClr val="tx2">
                  <a:lumMod val="60000"/>
                  <a:lumOff val="40000"/>
                </a:schemeClr>
              </a:buClr>
              <a:buFont typeface="Wingdings" panose="05000000000000000000" pitchFamily="2" charset="2"/>
              <a:buChar char="q"/>
            </a:pPr>
            <a:r>
              <a:rPr lang="en-US" sz="1800" dirty="0" smtClean="0"/>
              <a:t>Discuss and document :</a:t>
            </a:r>
          </a:p>
          <a:p>
            <a:pPr lvl="2">
              <a:buClr>
                <a:schemeClr val="tx2">
                  <a:lumMod val="60000"/>
                  <a:lumOff val="40000"/>
                </a:schemeClr>
              </a:buClr>
              <a:buFont typeface="Wingdings" panose="05000000000000000000" pitchFamily="2" charset="2"/>
              <a:buChar char="ü"/>
            </a:pPr>
            <a:r>
              <a:rPr lang="en-US" sz="1600" dirty="0" smtClean="0"/>
              <a:t> All integrations list , which are in use and which can be disabled. Gather details on integrations , volume and impacts.</a:t>
            </a:r>
          </a:p>
          <a:p>
            <a:pPr lvl="2">
              <a:buClr>
                <a:schemeClr val="tx2">
                  <a:lumMod val="60000"/>
                  <a:lumOff val="40000"/>
                </a:schemeClr>
              </a:buClr>
              <a:buFont typeface="Wingdings" panose="05000000000000000000" pitchFamily="2" charset="2"/>
              <a:buChar char="ü"/>
            </a:pPr>
            <a:r>
              <a:rPr lang="en-US" sz="1600" dirty="0"/>
              <a:t> </a:t>
            </a:r>
            <a:r>
              <a:rPr lang="en-US" sz="1600" dirty="0" smtClean="0"/>
              <a:t>Analyze and mention improvements which can be implemented.</a:t>
            </a:r>
          </a:p>
          <a:p>
            <a:pPr lvl="2">
              <a:buClr>
                <a:schemeClr val="tx2">
                  <a:lumMod val="60000"/>
                  <a:lumOff val="40000"/>
                </a:schemeClr>
              </a:buClr>
              <a:buFont typeface="Wingdings" panose="05000000000000000000" pitchFamily="2" charset="2"/>
              <a:buChar char="ü"/>
            </a:pPr>
            <a:r>
              <a:rPr lang="en-US" sz="1600" dirty="0" smtClean="0"/>
              <a:t>Discuss and list down features or add on modules which are present and which are not used currently.</a:t>
            </a:r>
          </a:p>
          <a:p>
            <a:pPr lvl="2">
              <a:buClr>
                <a:schemeClr val="tx2">
                  <a:lumMod val="60000"/>
                  <a:lumOff val="40000"/>
                </a:schemeClr>
              </a:buClr>
              <a:buFont typeface="Wingdings" panose="05000000000000000000" pitchFamily="2" charset="2"/>
              <a:buChar char="ü"/>
            </a:pPr>
            <a:r>
              <a:rPr lang="en-US" sz="1600" dirty="0" smtClean="0"/>
              <a:t>Gather functionality details on bundles and remove them </a:t>
            </a:r>
            <a:r>
              <a:rPr lang="en-US" sz="1600" dirty="0" smtClean="0"/>
              <a:t>if not </a:t>
            </a:r>
            <a:r>
              <a:rPr lang="en-US" sz="1600" dirty="0" smtClean="0"/>
              <a:t>required.</a:t>
            </a:r>
          </a:p>
          <a:p>
            <a:pPr lvl="2">
              <a:buClr>
                <a:schemeClr val="tx2">
                  <a:lumMod val="60000"/>
                  <a:lumOff val="40000"/>
                </a:schemeClr>
              </a:buClr>
              <a:buFont typeface="Wingdings" panose="05000000000000000000" pitchFamily="2" charset="2"/>
              <a:buChar char="ü"/>
            </a:pPr>
            <a:r>
              <a:rPr lang="en-US" sz="1600" dirty="0" smtClean="0"/>
              <a:t>Discuss and gather overall scripts and workflow functionality to adopt best practices and make changes for improving performance.</a:t>
            </a:r>
          </a:p>
          <a:p>
            <a:pPr lvl="2">
              <a:buClr>
                <a:schemeClr val="tx2">
                  <a:lumMod val="60000"/>
                  <a:lumOff val="40000"/>
                </a:schemeClr>
              </a:buClr>
              <a:buFont typeface="Wingdings" panose="05000000000000000000" pitchFamily="2" charset="2"/>
              <a:buChar char="ü"/>
            </a:pPr>
            <a:r>
              <a:rPr lang="en-US" sz="1600" dirty="0" smtClean="0"/>
              <a:t>Discuss pending customizations, forms, fields, tabs to be removed if not in use. </a:t>
            </a:r>
            <a:endParaRPr lang="en-US" sz="1600" dirty="0" smtClean="0"/>
          </a:p>
          <a:p>
            <a:pPr lvl="2">
              <a:buClr>
                <a:schemeClr val="tx2">
                  <a:lumMod val="60000"/>
                  <a:lumOff val="40000"/>
                </a:schemeClr>
              </a:buClr>
              <a:buFont typeface="Wingdings" panose="05000000000000000000" pitchFamily="2" charset="2"/>
              <a:buChar char="ü"/>
            </a:pPr>
            <a:r>
              <a:rPr lang="en-US" sz="1600" dirty="0" smtClean="0"/>
              <a:t>Discuss searches requirement and identify list of improvements.</a:t>
            </a:r>
            <a:endParaRPr lang="en-US" sz="1600" dirty="0" smtClean="0"/>
          </a:p>
          <a:p>
            <a:pPr marL="457200" lvl="1" indent="0">
              <a:buClr>
                <a:schemeClr val="tx2">
                  <a:lumMod val="60000"/>
                  <a:lumOff val="40000"/>
                </a:schemeClr>
              </a:buClr>
              <a:buNone/>
            </a:pPr>
            <a:r>
              <a:rPr lang="en-US" sz="1800" b="1" i="1" dirty="0"/>
              <a:t>Phase 1 </a:t>
            </a:r>
            <a:r>
              <a:rPr lang="en-US" sz="1800" b="1" i="1" dirty="0" smtClean="0"/>
              <a:t>Pre-requisites:</a:t>
            </a:r>
          </a:p>
          <a:p>
            <a:pPr lvl="1">
              <a:buClr>
                <a:schemeClr val="tx2">
                  <a:lumMod val="60000"/>
                  <a:lumOff val="40000"/>
                </a:schemeClr>
              </a:buClr>
              <a:buFont typeface="Wingdings" panose="05000000000000000000" pitchFamily="2" charset="2"/>
              <a:buChar char="q"/>
            </a:pPr>
            <a:r>
              <a:rPr lang="en-US" sz="1800" dirty="0" smtClean="0"/>
              <a:t>Sessions with current </a:t>
            </a:r>
            <a:r>
              <a:rPr lang="en-US" sz="1800" dirty="0"/>
              <a:t>Netsuite admin who manage Netsuite in your </a:t>
            </a:r>
            <a:r>
              <a:rPr lang="en-US" sz="1800" dirty="0" smtClean="0"/>
              <a:t>company. Or </a:t>
            </a:r>
            <a:r>
              <a:rPr lang="en-US" sz="1800" dirty="0"/>
              <a:t>if any one who is little bit familiar with Netsuite basic customization</a:t>
            </a:r>
            <a:r>
              <a:rPr lang="en-US" sz="1800" dirty="0" smtClean="0"/>
              <a:t>.</a:t>
            </a:r>
          </a:p>
          <a:p>
            <a:pPr lvl="1">
              <a:buClr>
                <a:schemeClr val="tx2">
                  <a:lumMod val="60000"/>
                  <a:lumOff val="40000"/>
                </a:schemeClr>
              </a:buClr>
              <a:buFont typeface="Wingdings" panose="05000000000000000000" pitchFamily="2" charset="2"/>
              <a:buChar char="q"/>
            </a:pPr>
            <a:r>
              <a:rPr lang="en-US" sz="1800" dirty="0" smtClean="0"/>
              <a:t>Operational users </a:t>
            </a:r>
            <a:r>
              <a:rPr lang="en-US" sz="1800" dirty="0" smtClean="0"/>
              <a:t>to be present who </a:t>
            </a:r>
            <a:r>
              <a:rPr lang="en-US" sz="1800" dirty="0" smtClean="0"/>
              <a:t>use daily transactions in Netsuite and have experienced performance issues.</a:t>
            </a:r>
          </a:p>
          <a:p>
            <a:pPr lvl="1">
              <a:buClr>
                <a:schemeClr val="tx2">
                  <a:lumMod val="60000"/>
                  <a:lumOff val="40000"/>
                </a:schemeClr>
              </a:buClr>
              <a:buFont typeface="Wingdings" panose="05000000000000000000" pitchFamily="2" charset="2"/>
              <a:buChar char="q"/>
            </a:pPr>
            <a:r>
              <a:rPr lang="en-US" sz="1800" dirty="0"/>
              <a:t>Users who have given customization requirements and have been using it expected to be present in discussion.</a:t>
            </a:r>
          </a:p>
          <a:p>
            <a:pPr marL="457200" lvl="1" indent="0">
              <a:buClr>
                <a:schemeClr val="tx2">
                  <a:lumMod val="60000"/>
                  <a:lumOff val="40000"/>
                </a:schemeClr>
              </a:buClr>
              <a:buNone/>
            </a:pPr>
            <a:endParaRPr lang="en-US" sz="1800" dirty="0" smtClean="0"/>
          </a:p>
          <a:p>
            <a:pPr lvl="1">
              <a:buClr>
                <a:schemeClr val="tx2">
                  <a:lumMod val="60000"/>
                  <a:lumOff val="40000"/>
                </a:schemeClr>
              </a:buClr>
              <a:buFont typeface="Wingdings" panose="05000000000000000000" pitchFamily="2" charset="2"/>
              <a:buChar char="q"/>
            </a:pPr>
            <a:endParaRPr lang="en-US" sz="1800" dirty="0"/>
          </a:p>
          <a:p>
            <a:pPr marL="0" indent="0">
              <a:buClr>
                <a:schemeClr val="tx2">
                  <a:lumMod val="60000"/>
                  <a:lumOff val="40000"/>
                </a:schemeClr>
              </a:buClr>
              <a:buNone/>
            </a:pPr>
            <a:endParaRPr lang="en-US" sz="2400" dirty="0"/>
          </a:p>
        </p:txBody>
      </p:sp>
    </p:spTree>
    <p:extLst>
      <p:ext uri="{BB962C8B-B14F-4D97-AF65-F5344CB8AC3E}">
        <p14:creationId xmlns:p14="http://schemas.microsoft.com/office/powerpoint/2010/main" val="186577950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steps</a:t>
            </a:r>
            <a:endParaRPr lang="en-US" dirty="0"/>
          </a:p>
        </p:txBody>
      </p:sp>
      <p:sp>
        <p:nvSpPr>
          <p:cNvPr id="3" name="Content Placeholder 2"/>
          <p:cNvSpPr>
            <a:spLocks noGrp="1"/>
          </p:cNvSpPr>
          <p:nvPr>
            <p:ph idx="1"/>
          </p:nvPr>
        </p:nvSpPr>
        <p:spPr>
          <a:xfrm>
            <a:off x="152400" y="838200"/>
            <a:ext cx="11887200" cy="5334000"/>
          </a:xfrm>
        </p:spPr>
        <p:txBody>
          <a:bodyPr/>
          <a:lstStyle/>
          <a:p>
            <a:pPr marL="457200" lvl="1" indent="0">
              <a:buClr>
                <a:schemeClr val="tx2">
                  <a:lumMod val="60000"/>
                  <a:lumOff val="40000"/>
                </a:schemeClr>
              </a:buClr>
              <a:buNone/>
            </a:pPr>
            <a:endParaRPr lang="en-US" sz="1800" dirty="0" smtClean="0"/>
          </a:p>
          <a:p>
            <a:pPr marL="457200" lvl="1" indent="0">
              <a:buClr>
                <a:schemeClr val="tx2">
                  <a:lumMod val="60000"/>
                  <a:lumOff val="40000"/>
                </a:schemeClr>
              </a:buClr>
              <a:buNone/>
            </a:pPr>
            <a:r>
              <a:rPr lang="en-US" sz="1800" b="1" i="1" dirty="0" smtClean="0"/>
              <a:t>Phase 2 Objectives </a:t>
            </a:r>
            <a:r>
              <a:rPr lang="en-US" sz="1800" b="1" i="1" dirty="0" smtClean="0"/>
              <a:t>:</a:t>
            </a:r>
            <a:endParaRPr lang="en-US" sz="1800" dirty="0"/>
          </a:p>
          <a:p>
            <a:pPr lvl="1">
              <a:buClr>
                <a:schemeClr val="tx2">
                  <a:lumMod val="60000"/>
                  <a:lumOff val="40000"/>
                </a:schemeClr>
              </a:buClr>
              <a:buFont typeface="Wingdings" panose="05000000000000000000" pitchFamily="2" charset="2"/>
              <a:buChar char="q"/>
            </a:pPr>
            <a:r>
              <a:rPr lang="en-US" sz="1800" dirty="0" smtClean="0"/>
              <a:t>Implement all documented and signed off changes , improvements in sandbox per process flow.</a:t>
            </a:r>
          </a:p>
          <a:p>
            <a:pPr lvl="1">
              <a:buClr>
                <a:schemeClr val="tx2">
                  <a:lumMod val="60000"/>
                  <a:lumOff val="40000"/>
                </a:schemeClr>
              </a:buClr>
              <a:buFont typeface="Wingdings" panose="05000000000000000000" pitchFamily="2" charset="2"/>
              <a:buChar char="q"/>
            </a:pPr>
            <a:r>
              <a:rPr lang="en-US" sz="1800" dirty="0" smtClean="0"/>
              <a:t>Test each process flow change and deploy in production after testing by operational users.</a:t>
            </a:r>
          </a:p>
          <a:p>
            <a:pPr lvl="1">
              <a:buClr>
                <a:schemeClr val="tx2">
                  <a:lumMod val="60000"/>
                  <a:lumOff val="40000"/>
                </a:schemeClr>
              </a:buClr>
              <a:buFont typeface="Wingdings" panose="05000000000000000000" pitchFamily="2" charset="2"/>
              <a:buChar char="q"/>
            </a:pPr>
            <a:r>
              <a:rPr lang="en-US" sz="1800" dirty="0" smtClean="0"/>
              <a:t>Monitor performance in production as there is difference in performance in production and sandbox.</a:t>
            </a:r>
          </a:p>
          <a:p>
            <a:pPr lvl="1">
              <a:buClr>
                <a:schemeClr val="tx2">
                  <a:lumMod val="60000"/>
                  <a:lumOff val="40000"/>
                </a:schemeClr>
              </a:buClr>
              <a:buFont typeface="Wingdings" panose="05000000000000000000" pitchFamily="2" charset="2"/>
              <a:buChar char="q"/>
            </a:pPr>
            <a:r>
              <a:rPr lang="en-US" sz="1800" dirty="0" smtClean="0"/>
              <a:t>Once it is confirmed that performance is improved for overall all process , close that tasks and get project sign off.</a:t>
            </a:r>
          </a:p>
          <a:p>
            <a:pPr marL="457200" lvl="1" indent="0">
              <a:buClr>
                <a:schemeClr val="tx2">
                  <a:lumMod val="60000"/>
                  <a:lumOff val="40000"/>
                </a:schemeClr>
              </a:buClr>
              <a:buNone/>
            </a:pPr>
            <a:endParaRPr lang="en-US" sz="1800" dirty="0"/>
          </a:p>
          <a:p>
            <a:pPr marL="457200" lvl="1" indent="0">
              <a:buClr>
                <a:schemeClr val="tx2">
                  <a:lumMod val="60000"/>
                  <a:lumOff val="40000"/>
                </a:schemeClr>
              </a:buClr>
              <a:buNone/>
            </a:pPr>
            <a:r>
              <a:rPr lang="en-US" sz="1800" b="1" i="1" dirty="0"/>
              <a:t>Phase </a:t>
            </a:r>
            <a:r>
              <a:rPr lang="en-US" sz="1800" b="1" i="1" dirty="0" smtClean="0"/>
              <a:t>2 </a:t>
            </a:r>
            <a:r>
              <a:rPr lang="en-US" sz="1800" b="1" i="1" dirty="0"/>
              <a:t>Pre-requisites:</a:t>
            </a:r>
          </a:p>
          <a:p>
            <a:pPr lvl="1">
              <a:buClr>
                <a:schemeClr val="tx2">
                  <a:lumMod val="60000"/>
                  <a:lumOff val="40000"/>
                </a:schemeClr>
              </a:buClr>
              <a:buFont typeface="Wingdings" panose="05000000000000000000" pitchFamily="2" charset="2"/>
              <a:buChar char="q"/>
            </a:pPr>
            <a:r>
              <a:rPr lang="en-US" sz="1800" dirty="0"/>
              <a:t>Sessions with current </a:t>
            </a:r>
            <a:r>
              <a:rPr lang="en-US" sz="1800" dirty="0"/>
              <a:t>Netsuite admin who manage Netsuite in your company. Or if any one who is little bit familiar with Netsuite basic customization.</a:t>
            </a:r>
          </a:p>
          <a:p>
            <a:pPr lvl="1">
              <a:buClr>
                <a:schemeClr val="tx2">
                  <a:lumMod val="60000"/>
                  <a:lumOff val="40000"/>
                </a:schemeClr>
              </a:buClr>
              <a:buFont typeface="Wingdings" panose="05000000000000000000" pitchFamily="2" charset="2"/>
              <a:buChar char="q"/>
            </a:pPr>
            <a:r>
              <a:rPr lang="en-US" sz="1800" dirty="0"/>
              <a:t>Operational users </a:t>
            </a:r>
            <a:r>
              <a:rPr lang="en-US" sz="1800" dirty="0" smtClean="0"/>
              <a:t>to be present who </a:t>
            </a:r>
            <a:r>
              <a:rPr lang="en-US" sz="1800" dirty="0"/>
              <a:t>use daily transactions in Netsuite and have experienced performance issues.</a:t>
            </a:r>
          </a:p>
          <a:p>
            <a:pPr lvl="1">
              <a:buClr>
                <a:schemeClr val="tx2">
                  <a:lumMod val="60000"/>
                  <a:lumOff val="40000"/>
                </a:schemeClr>
              </a:buClr>
              <a:buFont typeface="Wingdings" panose="05000000000000000000" pitchFamily="2" charset="2"/>
              <a:buChar char="q"/>
            </a:pPr>
            <a:r>
              <a:rPr lang="en-US" sz="1800" dirty="0"/>
              <a:t>Users who have given customization requirements and have been using </a:t>
            </a:r>
            <a:r>
              <a:rPr lang="en-US" sz="1800" dirty="0" smtClean="0"/>
              <a:t>it</a:t>
            </a:r>
            <a:r>
              <a:rPr lang="en-US" sz="1800" dirty="0"/>
              <a:t> </a:t>
            </a:r>
            <a:r>
              <a:rPr lang="en-US" sz="1800" dirty="0" smtClean="0"/>
              <a:t>expected to be present in discussion.</a:t>
            </a:r>
            <a:endParaRPr lang="en-US" sz="1800" dirty="0" smtClean="0"/>
          </a:p>
          <a:p>
            <a:pPr lvl="1">
              <a:buClr>
                <a:schemeClr val="tx2">
                  <a:lumMod val="60000"/>
                  <a:lumOff val="40000"/>
                </a:schemeClr>
              </a:buClr>
              <a:buFont typeface="Wingdings" panose="05000000000000000000" pitchFamily="2" charset="2"/>
              <a:buChar char="q"/>
            </a:pPr>
            <a:r>
              <a:rPr lang="en-US" sz="1800" dirty="0" smtClean="0"/>
              <a:t>Transactional Data to test bulk volume performance.</a:t>
            </a:r>
            <a:endParaRPr lang="en-US" sz="1800" dirty="0"/>
          </a:p>
          <a:p>
            <a:pPr marL="0" indent="0">
              <a:buClr>
                <a:schemeClr val="tx2">
                  <a:lumMod val="60000"/>
                  <a:lumOff val="40000"/>
                </a:schemeClr>
              </a:buClr>
              <a:buNone/>
            </a:pPr>
            <a:endParaRPr lang="en-US" sz="2400" dirty="0"/>
          </a:p>
        </p:txBody>
      </p:sp>
    </p:spTree>
    <p:extLst>
      <p:ext uri="{BB962C8B-B14F-4D97-AF65-F5344CB8AC3E}">
        <p14:creationId xmlns:p14="http://schemas.microsoft.com/office/powerpoint/2010/main" val="414020479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11887200" cy="5181600"/>
          </a:xfrm>
        </p:spPr>
        <p:txBody>
          <a:bodyPr/>
          <a:lstStyle/>
          <a:p>
            <a:pPr lvl="1">
              <a:buFont typeface="Arial" panose="020B0604020202020204" pitchFamily="34" charset="0"/>
              <a:buChar char="•"/>
            </a:pPr>
            <a:endParaRPr lang="en-CA" sz="2000" dirty="0" smtClean="0"/>
          </a:p>
          <a:p>
            <a:pPr lvl="1">
              <a:buFont typeface="Arial" panose="020B0604020202020204" pitchFamily="34" charset="0"/>
              <a:buChar char="•"/>
            </a:pPr>
            <a:endParaRPr lang="en-CA" sz="2000" dirty="0"/>
          </a:p>
          <a:p>
            <a:pPr lvl="1">
              <a:buFont typeface="Arial" panose="020B0604020202020204" pitchFamily="34" charset="0"/>
              <a:buChar char="•"/>
            </a:pPr>
            <a:endParaRPr lang="en-CA" sz="2000" dirty="0" smtClean="0"/>
          </a:p>
          <a:p>
            <a:pPr lvl="1">
              <a:buFont typeface="Arial" panose="020B0604020202020204" pitchFamily="34" charset="0"/>
              <a:buChar char="•"/>
            </a:pPr>
            <a:endParaRPr lang="en-CA" sz="2000" dirty="0"/>
          </a:p>
          <a:p>
            <a:pPr lvl="1">
              <a:buFont typeface="Arial" panose="020B0604020202020204" pitchFamily="34" charset="0"/>
              <a:buChar char="•"/>
            </a:pPr>
            <a:endParaRPr lang="en-CA" sz="2000" dirty="0" smtClean="0"/>
          </a:p>
          <a:p>
            <a:pPr lvl="1">
              <a:buFont typeface="Arial" panose="020B0604020202020204" pitchFamily="34" charset="0"/>
              <a:buChar char="•"/>
            </a:pPr>
            <a:endParaRPr lang="en-CA" sz="2000" dirty="0"/>
          </a:p>
          <a:p>
            <a:pPr marL="457200" lvl="1" indent="0" algn="ctr">
              <a:buNone/>
            </a:pPr>
            <a:r>
              <a:rPr lang="en-CA" sz="4800" b="1" dirty="0" smtClean="0">
                <a:solidFill>
                  <a:srgbClr val="2E68B2"/>
                </a:solidFill>
                <a:latin typeface="+mj-lt"/>
              </a:rPr>
              <a:t>Thank You</a:t>
            </a:r>
            <a:endParaRPr lang="en-CA" sz="5400" b="1" dirty="0" smtClean="0">
              <a:solidFill>
                <a:srgbClr val="2E68B2"/>
              </a:solidFill>
              <a:latin typeface="+mj-lt"/>
            </a:endParaRPr>
          </a:p>
          <a:p>
            <a:pPr marL="457200" lvl="1" indent="0" algn="ctr">
              <a:buNone/>
            </a:pPr>
            <a:endParaRPr lang="en-CA" sz="2000" dirty="0" smtClean="0"/>
          </a:p>
          <a:p>
            <a:pPr lvl="1">
              <a:buFont typeface="Arial" panose="020B0604020202020204" pitchFamily="34" charset="0"/>
              <a:buChar char="•"/>
            </a:pPr>
            <a:endParaRPr lang="en-CA" sz="2000" dirty="0"/>
          </a:p>
          <a:p>
            <a:pPr lvl="1">
              <a:buFont typeface="Arial" panose="020B0604020202020204" pitchFamily="34" charset="0"/>
              <a:buChar char="•"/>
            </a:pPr>
            <a:endParaRPr lang="en-CA" sz="2000" dirty="0"/>
          </a:p>
        </p:txBody>
      </p:sp>
    </p:spTree>
    <p:extLst>
      <p:ext uri="{BB962C8B-B14F-4D97-AF65-F5344CB8AC3E}">
        <p14:creationId xmlns:p14="http://schemas.microsoft.com/office/powerpoint/2010/main" val="3489100231"/>
      </p:ext>
    </p:extLst>
  </p:cSld>
  <p:clrMapOvr>
    <a:masterClrMapping/>
  </p:clrMapOvr>
  <p:transition/>
</p:sld>
</file>

<file path=ppt/theme/theme1.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290139</TotalTime>
  <Words>1262</Words>
  <Application>Microsoft Office PowerPoint</Application>
  <PresentationFormat>Widescreen</PresentationFormat>
  <Paragraphs>99</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Wingdings</vt:lpstr>
      <vt:lpstr>8_Office Theme</vt:lpstr>
      <vt:lpstr>PowerPoint Presentation</vt:lpstr>
      <vt:lpstr>Agenda</vt:lpstr>
      <vt:lpstr>Current Situation</vt:lpstr>
      <vt:lpstr>Current Analysis</vt:lpstr>
      <vt:lpstr>Current Analysis</vt:lpstr>
      <vt:lpstr>Right Away Recommendations and Quick fixes</vt:lpstr>
      <vt:lpstr>Next steps</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iostream</cp:lastModifiedBy>
  <cp:revision>1993</cp:revision>
  <cp:lastPrinted>2019-06-17T23:46:12Z</cp:lastPrinted>
  <dcterms:created xsi:type="dcterms:W3CDTF">2009-01-14T02:26:47Z</dcterms:created>
  <dcterms:modified xsi:type="dcterms:W3CDTF">2021-12-16T14:42:56Z</dcterms:modified>
</cp:coreProperties>
</file>